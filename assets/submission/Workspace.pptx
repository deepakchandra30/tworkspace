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"Everything you're about to see deletes itself, and MongoDB is the thing that deletes it." Then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"Raise your hand if you've joined a WhatsApp group of strangers today." Then: "We create permanent infrastructure for six-hour relationships. Then it sits there forever on a stranger's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"The entire onboarding is: point your camera at a screen." Same primitive, three problems: a table of 4 strangers, a speaker handing slides to 100 people without a WhatsApp group, a remote team's 48-hour sprint that leaves no Slack workspace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now. 60 seconds, pre-seeded workspace already open on a second phone. 0-15s: scan the QR on the laptop with the phone, nickname appears. 15-30s: open the PDF, type @ and pick it, send. 30-45s: Ctrl+V a screenshot, it appears on the phone. 45-60s: type "wifi pw" in search, it finds "the network password is hunter2". Switch back to the deck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"We didn't write a deletion feature. We wrote a date on every document." TTL deletes it with no cron job. Change streams push updates to every phone. Vector Search plus Atlas Search, fused with $rankFusion, find things by meaning, and Atlas makes the embeddings itself on insert. The last card is the one to land: anywhere else the vector lives in a second system and survives the delete. Unique indexes and schema validation also guard PINs, nicknames and file sizes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"Without MongoDB this is five systems with five clocks, and 'it's gone' becomes a claim across five vendors with no receipt to show. The worst one is the orphaned vector: the row is deleted, the embedding still answers queries. We used one Atlas cluster, zero lines of delete code, and it costs nothing to run." If asked about Postgres plus pgvector: partly yes. It doesn't give change streams as the live feed, managed embeddings on insert, or hybrid search as one pipeline stage, all on one free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"Every growth step keeps workspaceId as the unit, so the data model holds from one demo to thousands. Extending the lifetime is editing a number: the TTL design paying off twice." Then: "Enough slides. Your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"Permanent tools for temporary teams is the wrong default. MongoDB let us build the other one, because deletion, realtime and semantic search are the same document, with a date on it." Then take questions. Q&amp;A prep: base64 vs bucket, how we know deletion happened (the receipt), PIN brute force (5 failed attempts per minute, QR uses a random secret), why not Firebase (no cross-collection expiry, no semantic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presenting: replace the URL and PIN placeholders with the live ones. Switch to the app and open Invite so the QR fills the screen. Give the room about 60 seconds to join and type. Have Atlas Data Explorer open in a second tab. Then the closing beat: "That message you just typed is in a real collection in Atlas. Watch the count." Click Close. The receipt counts fall to 0 per collection; refresh Data Explorer beside it. "Most apps tell you your data is deleted. We show you the number hitting zero." Then return to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A1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0" y="1170862"/>
            <a:ext cx="10566440" cy="1005840"/>
          </a:xfrm>
          <a:prstGeom prst="rect">
            <a:avLst/>
          </a:prstGeom>
          <a:noFill/>
          <a:ln/>
        </p:spPr>
        <p:txBody>
          <a:bodyPr wrap="square" lIns="0" tIns="0" rIns="0" bIns="0" rtlCol="0" anchor="t"/>
          <a:lstStyle>
            <a:lvl1pPr algn="l" indent="0" marL="0">
              <a:lnSpc>
                <a:spcPct val="115000"/>
              </a:lnSpc>
              <a:buNone/>
              <a:defRPr lang="en-US" sz="4400" dirty="0">
                <a:solidFill>
                  <a:srgbClr val="F3F1E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780" y="2481502"/>
            <a:ext cx="10566420" cy="3563698"/>
          </a:xfrm>
          <a:prstGeom prst="rect">
            <a:avLst/>
          </a:prstGeom>
          <a:noFill/>
          <a:ln/>
        </p:spPr>
        <p:txBody>
          <a:bodyPr wrap="square" lIns="0" tIns="0" rIns="0" bIns="0" rtlCol="0" anchor="t"/>
          <a:lstStyle>
            <a:lvl1pPr algn="l" indent="0" marL="0">
              <a:lnSpc>
                <a:spcPct val="140000"/>
              </a:lnSpc>
              <a:buNone/>
              <a:defRPr lang="en-US" sz="1600" dirty="0">
                <a:solidFill>
                  <a:srgbClr val="F3F1EA"/>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A1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0" y="1170862"/>
            <a:ext cx="10566440" cy="1005840"/>
          </a:xfrm>
          <a:prstGeom prst="rect">
            <a:avLst/>
          </a:prstGeom>
          <a:noFill/>
          <a:ln/>
        </p:spPr>
        <p:txBody>
          <a:bodyPr wrap="square" lIns="0" tIns="0" rIns="0" bIns="0" rtlCol="0" anchor="t"/>
          <a:lstStyle>
            <a:lvl1pPr algn="l" indent="0" marL="0">
              <a:lnSpc>
                <a:spcPct val="115000"/>
              </a:lnSpc>
              <a:buNone/>
              <a:defRPr lang="en-US" sz="4400" dirty="0">
                <a:solidFill>
                  <a:srgbClr val="F3F1E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780" y="2481502"/>
            <a:ext cx="10566420" cy="3563698"/>
          </a:xfrm>
          <a:prstGeom prst="rect">
            <a:avLst/>
          </a:prstGeom>
          <a:noFill/>
          <a:ln/>
        </p:spPr>
        <p:txBody>
          <a:bodyPr wrap="square" lIns="0" tIns="0" rIns="0" bIns="0" rtlCol="0" anchor="t"/>
          <a:lstStyle>
            <a:lvl1pPr algn="l" indent="0" marL="0">
              <a:lnSpc>
                <a:spcPct val="140000"/>
              </a:lnSpc>
              <a:buNone/>
              <a:defRPr lang="en-US" sz="1600" dirty="0">
                <a:solidFill>
                  <a:srgbClr val="F3F1EA"/>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16"/>
        </a:solidFill>
      </p:bgPr>
    </p:bg>
    <p:spTree>
      <p:nvGrpSpPr>
        <p:cNvPr id="1" name=""/>
        <p:cNvGrpSpPr/>
        <p:nvPr/>
      </p:nvGrpSpPr>
      <p:grpSpPr>
        <a:xfrm>
          <a:off x="0" y="0"/>
          <a:ext cx="0" cy="0"/>
          <a:chOff x="0" y="0"/>
          <a:chExt cx="0" cy="0"/>
        </a:xfrm>
      </p:grpSpPr>
      <p:sp>
        <p:nvSpPr>
          <p:cNvPr id="2" name="Text 0"/>
          <p:cNvSpPr/>
          <p:nvPr/>
        </p:nvSpPr>
        <p:spPr>
          <a:xfrm>
            <a:off x="5587960" y="1905000"/>
            <a:ext cx="5964936" cy="1422420"/>
          </a:xfrm>
          <a:prstGeom prst="rect">
            <a:avLst/>
          </a:prstGeom>
          <a:noFill/>
          <a:ln/>
        </p:spPr>
        <p:txBody>
          <a:bodyPr wrap="none" lIns="0" tIns="0" rIns="0" bIns="0" rtlCol="0" anchor="t">
            <a:normAutofit/>
          </a:bodyPr>
          <a:lstStyle/>
          <a:p>
            <a:pPr algn="l" indent="0" marL="0">
              <a:lnSpc>
                <a:spcPts val="11000"/>
              </a:lnSpc>
              <a:buNone/>
            </a:pPr>
            <a:r>
              <a:rPr lang="en-US" sz="11000" b="1" dirty="0">
                <a:solidFill>
                  <a:srgbClr val="00ED64">
                    <a:alpha val="7000"/>
                  </a:srgbClr>
                </a:solidFill>
                <a:latin typeface="JetBrains Mono" pitchFamily="49" charset="0"/>
                <a:ea typeface="JetBrains Mono" pitchFamily="49" charset="-122"/>
                <a:cs typeface="JetBrains Mono" pitchFamily="49" charset="-120"/>
              </a:rPr>
              <a:t>expiresAt</a:t>
            </a:r>
            <a:endParaRPr lang="en-US" sz="11000" dirty="0"/>
          </a:p>
        </p:txBody>
      </p:sp>
      <p:sp>
        <p:nvSpPr>
          <p:cNvPr id="3" name="Text 1"/>
          <p:cNvSpPr/>
          <p:nvPr/>
        </p:nvSpPr>
        <p:spPr>
          <a:xfrm>
            <a:off x="812780" y="812780"/>
            <a:ext cx="10883434" cy="25650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00ED64"/>
                </a:solidFill>
                <a:latin typeface="JetBrains Mono" pitchFamily="49" charset="0"/>
                <a:ea typeface="JetBrains Mono" pitchFamily="49" charset="-122"/>
                <a:cs typeface="JetBrains Mono" pitchFamily="49" charset="-120"/>
              </a:rPr>
              <a:t>MONGODB × GIVE(A)GO STUDENT BUILDER DAY · 3 OCT 2026</a:t>
            </a:r>
            <a:endParaRPr lang="en-US" sz="1300" dirty="0"/>
          </a:p>
        </p:txBody>
      </p:sp>
      <p:sp>
        <p:nvSpPr>
          <p:cNvPr id="4" name="Text 2"/>
          <p:cNvSpPr/>
          <p:nvPr>
            <p:ph type="title"/>
          </p:nvPr>
        </p:nvSpPr>
        <p:spPr>
          <a:xfrm>
            <a:off x="812780" y="2098119"/>
            <a:ext cx="10883434" cy="1295380"/>
          </a:xfrm>
          <a:prstGeom prst="rect">
            <a:avLst/>
          </a:prstGeom>
          <a:noFill/>
          <a:ln/>
        </p:spPr>
        <p:txBody>
          <a:bodyPr wrap="square" lIns="0" tIns="0" rIns="0" bIns="0" rtlCol="0" anchor="t">
            <a:normAutofit/>
          </a:bodyPr>
          <a:lstStyle/>
          <a:p>
            <a:pPr algn="l" indent="0" marL="0">
              <a:lnSpc>
                <a:spcPts val="10000"/>
              </a:lnSpc>
              <a:buNone/>
            </a:pPr>
            <a:r>
              <a:rPr lang="en-US" sz="10000" b="1" i="0" spc="-300" kern="0" dirty="0">
                <a:solidFill>
                  <a:srgbClr val="F3F1EA"/>
                </a:solidFill>
                <a:latin typeface="Space Grotesk" pitchFamily="34" charset="0"/>
                <a:ea typeface="Space Grotesk" pitchFamily="34" charset="-122"/>
                <a:cs typeface="Space Grotesk" pitchFamily="34" charset="-120"/>
              </a:rPr>
              <a:t>TWorkspace</a:t>
            </a:r>
            <a:endParaRPr lang="en-US" sz="10000" dirty="0"/>
          </a:p>
        </p:txBody>
      </p:sp>
      <p:sp>
        <p:nvSpPr>
          <p:cNvPr id="5" name="Text 3"/>
          <p:cNvSpPr/>
          <p:nvPr/>
        </p:nvSpPr>
        <p:spPr>
          <a:xfrm>
            <a:off x="812780" y="3545860"/>
            <a:ext cx="10883434" cy="901700"/>
          </a:xfrm>
          <a:prstGeom prst="rect">
            <a:avLst/>
          </a:prstGeom>
          <a:noFill/>
          <a:ln/>
        </p:spPr>
        <p:txBody>
          <a:bodyPr wrap="square" lIns="0" tIns="0" rIns="0" bIns="0" rtlCol="0" anchor="t">
            <a:normAutofit/>
          </a:bodyPr>
          <a:lstStyle/>
          <a:p>
            <a:pPr algn="l" indent="0" marL="0">
              <a:lnSpc>
                <a:spcPts val="3450"/>
              </a:lnSpc>
              <a:buNone/>
            </a:pPr>
            <a:r>
              <a:rPr lang="en-US" sz="3000" dirty="0">
                <a:solidFill>
                  <a:srgbClr val="F3F1EA"/>
                </a:solidFill>
                <a:latin typeface="Space Grotesk" pitchFamily="34" charset="0"/>
                <a:ea typeface="Space Grotesk" pitchFamily="34" charset="-122"/>
                <a:cs typeface="Space Grotesk" pitchFamily="34" charset="-120"/>
              </a:rPr>
              <a:t>A shared space that exists only</a:t>
            </a:r>
            <a:endParaRPr lang="en-US" sz="3000" dirty="0"/>
          </a:p>
          <a:p>
            <a:pPr algn="l" indent="0" marL="0">
              <a:lnSpc>
                <a:spcPts val="3450"/>
              </a:lnSpc>
              <a:buNone/>
            </a:pPr>
            <a:r>
              <a:rPr lang="en-US" sz="3000" dirty="0">
                <a:solidFill>
                  <a:srgbClr val="F3F1EA"/>
                </a:solidFill>
                <a:latin typeface="Space Grotesk" pitchFamily="34" charset="0"/>
                <a:ea typeface="Space Grotesk" pitchFamily="34" charset="-122"/>
                <a:cs typeface="Space Grotesk" pitchFamily="34" charset="-120"/>
              </a:rPr>
              <a:t>while you need it.</a:t>
            </a:r>
            <a:endParaRPr lang="en-US" sz="3000" dirty="0"/>
          </a:p>
        </p:txBody>
      </p:sp>
      <p:sp>
        <p:nvSpPr>
          <p:cNvPr id="6" name="Text 4"/>
          <p:cNvSpPr/>
          <p:nvPr/>
        </p:nvSpPr>
        <p:spPr>
          <a:xfrm>
            <a:off x="812780" y="5476339"/>
            <a:ext cx="6416231" cy="5942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9C2"/>
                </a:solidFill>
                <a:latin typeface="Space Grotesk" pitchFamily="34" charset="0"/>
                <a:ea typeface="Space Grotesk" pitchFamily="34" charset="-122"/>
                <a:cs typeface="Space Grotesk" pitchFamily="34" charset="-120"/>
              </a:rPr>
              <a:t>Scan a QR. Pick a nickname. Share files, chat, search everything.</a:t>
            </a:r>
            <a:endParaRPr lang="en-US" sz="1600" dirty="0"/>
          </a:p>
          <a:p>
            <a:pPr algn="l" indent="0" marL="0">
              <a:lnSpc>
                <a:spcPts val="2240"/>
              </a:lnSpc>
              <a:buNone/>
            </a:pPr>
            <a:r>
              <a:rPr lang="en-US" sz="1600" dirty="0">
                <a:solidFill>
                  <a:srgbClr val="B8C9C2"/>
                </a:solidFill>
                <a:latin typeface="Space Grotesk" pitchFamily="34" charset="0"/>
                <a:ea typeface="Space Grotesk" pitchFamily="34" charset="-122"/>
                <a:cs typeface="Space Grotesk" pitchFamily="34" charset="-120"/>
              </a:rPr>
              <a:t>When it's over, the database deletes it.</a:t>
            </a:r>
            <a:endParaRPr lang="en-US" sz="1600" dirty="0"/>
          </a:p>
        </p:txBody>
      </p:sp>
      <p:sp>
        <p:nvSpPr>
          <p:cNvPr id="7" name="Text 5"/>
          <p:cNvSpPr/>
          <p:nvPr/>
        </p:nvSpPr>
        <p:spPr>
          <a:xfrm>
            <a:off x="8702397" y="5618560"/>
            <a:ext cx="2676823" cy="426660"/>
          </a:xfrm>
          <a:prstGeom prst="roundRect">
            <a:avLst>
              <a:gd name="adj" fmla="val 50000"/>
            </a:avLst>
          </a:prstGeom>
          <a:solidFill>
            <a:srgbClr val="00ED64"/>
          </a:solidFill>
          <a:ln/>
        </p:spPr>
        <p:txBody>
          <a:bodyPr wrap="none" lIns="0" tIns="0" rIns="0" bIns="0" rtlCol="0" anchor="ctr">
            <a:normAutofit/>
          </a:bodyPr>
          <a:lstStyle/>
          <a:p>
            <a:pPr algn="ctr" indent="0" marL="0">
              <a:lnSpc>
                <a:spcPts val="1960"/>
              </a:lnSpc>
              <a:buNone/>
            </a:pPr>
            <a:r>
              <a:rPr lang="en-US" sz="1400" dirty="0">
                <a:solidFill>
                  <a:srgbClr val="0B1A16"/>
                </a:solidFill>
                <a:latin typeface="JetBrains Mono" pitchFamily="49" charset="0"/>
                <a:ea typeface="JetBrains Mono" pitchFamily="49" charset="-122"/>
                <a:cs typeface="JetBrains Mono" pitchFamily="49" charset="-120"/>
              </a:rPr>
              <a:t>Built on MongoDB Atlas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780" y="812781"/>
            <a:ext cx="10883434" cy="25650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00684A"/>
                </a:solidFill>
                <a:latin typeface="JetBrains Mono" pitchFamily="49" charset="0"/>
                <a:ea typeface="JetBrains Mono" pitchFamily="49" charset="-122"/>
                <a:cs typeface="JetBrains Mono" pitchFamily="49" charset="-120"/>
              </a:rPr>
              <a:t>THE PROBLEM</a:t>
            </a:r>
            <a:endParaRPr lang="en-US" sz="1300" dirty="0"/>
          </a:p>
        </p:txBody>
      </p:sp>
      <p:sp>
        <p:nvSpPr>
          <p:cNvPr id="3" name="Text 1"/>
          <p:cNvSpPr/>
          <p:nvPr>
            <p:ph type="title"/>
          </p:nvPr>
        </p:nvSpPr>
        <p:spPr>
          <a:xfrm>
            <a:off x="812780" y="1170861"/>
            <a:ext cx="10883434" cy="103124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B1A16"/>
                </a:solidFill>
                <a:latin typeface="Space Grotesk" pitchFamily="34" charset="0"/>
                <a:ea typeface="Space Grotesk" pitchFamily="34" charset="-122"/>
                <a:cs typeface="Space Grotesk" pitchFamily="34" charset="-120"/>
              </a:rPr>
              <a:t>You meet 3 strangers at a hackathon.</a:t>
            </a:r>
            <a:endParaRPr lang="en-US" sz="3600" dirty="0"/>
          </a:p>
          <a:p>
            <a:pPr algn="l" indent="0" marL="0">
              <a:lnSpc>
                <a:spcPts val="3960"/>
              </a:lnSpc>
              <a:buNone/>
            </a:pPr>
            <a:r>
              <a:rPr lang="en-US" sz="3600" b="1" i="0" spc="-50" kern="0" dirty="0">
                <a:solidFill>
                  <a:srgbClr val="0B1A16"/>
                </a:solidFill>
                <a:latin typeface="Space Grotesk" pitchFamily="34" charset="0"/>
                <a:ea typeface="Space Grotesk" pitchFamily="34" charset="-122"/>
                <a:cs typeface="Space Grotesk" pitchFamily="34" charset="-120"/>
              </a:rPr>
              <a:t>You need to share files for 6 hours.</a:t>
            </a:r>
            <a:endParaRPr lang="en-US" sz="3600" dirty="0"/>
          </a:p>
        </p:txBody>
      </p:sp>
      <p:sp>
        <p:nvSpPr>
          <p:cNvPr id="4" name="Shape 2"/>
          <p:cNvSpPr/>
          <p:nvPr/>
        </p:nvSpPr>
        <p:spPr>
          <a:xfrm>
            <a:off x="815955" y="2957890"/>
            <a:ext cx="2482830" cy="1940441"/>
          </a:xfrm>
          <a:prstGeom prst="roundRect">
            <a:avLst>
              <a:gd name="adj" fmla="val 6381"/>
            </a:avLst>
          </a:prstGeom>
          <a:solidFill>
            <a:srgbClr val="FBFAF6"/>
          </a:solidFill>
          <a:ln w="6350">
            <a:solidFill>
              <a:srgbClr val="DCD8CC"/>
            </a:solidFill>
            <a:prstDash val="solid"/>
          </a:ln>
        </p:spPr>
      </p:sp>
      <p:sp>
        <p:nvSpPr>
          <p:cNvPr id="5" name="Text 3"/>
          <p:cNvSpPr/>
          <p:nvPr/>
        </p:nvSpPr>
        <p:spPr>
          <a:xfrm>
            <a:off x="1070551" y="3212485"/>
            <a:ext cx="2032849"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A16"/>
                </a:solidFill>
                <a:latin typeface="Space Grotesk" pitchFamily="34" charset="0"/>
                <a:ea typeface="Space Grotesk" pitchFamily="34" charset="-122"/>
                <a:cs typeface="Space Grotesk" pitchFamily="34" charset="-120"/>
              </a:rPr>
              <a:t>WhatsApp group</a:t>
            </a:r>
            <a:endParaRPr lang="en-US" sz="2000" dirty="0"/>
          </a:p>
        </p:txBody>
      </p:sp>
      <p:sp>
        <p:nvSpPr>
          <p:cNvPr id="6" name="Text 4"/>
          <p:cNvSpPr/>
          <p:nvPr/>
        </p:nvSpPr>
        <p:spPr>
          <a:xfrm>
            <a:off x="1070551" y="3923646"/>
            <a:ext cx="2032849"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54"/>
                </a:solidFill>
                <a:latin typeface="Space Grotesk" pitchFamily="34" charset="0"/>
                <a:ea typeface="Space Grotesk" pitchFamily="34" charset="-122"/>
                <a:cs typeface="Space Grotesk" pitchFamily="34" charset="-120"/>
              </a:rPr>
              <a:t>Everyone sees everyone's phone number</a:t>
            </a:r>
            <a:endParaRPr lang="en-US" sz="1400" dirty="0"/>
          </a:p>
        </p:txBody>
      </p:sp>
      <p:sp>
        <p:nvSpPr>
          <p:cNvPr id="7" name="Shape 5"/>
          <p:cNvSpPr/>
          <p:nvPr/>
        </p:nvSpPr>
        <p:spPr>
          <a:xfrm>
            <a:off x="3508316" y="2957890"/>
            <a:ext cx="2482890" cy="1940441"/>
          </a:xfrm>
          <a:prstGeom prst="roundRect">
            <a:avLst>
              <a:gd name="adj" fmla="val 6381"/>
            </a:avLst>
          </a:prstGeom>
          <a:solidFill>
            <a:srgbClr val="FBFAF6"/>
          </a:solidFill>
          <a:ln w="6350">
            <a:solidFill>
              <a:srgbClr val="DCD8CC"/>
            </a:solidFill>
            <a:prstDash val="solid"/>
          </a:ln>
        </p:spPr>
      </p:sp>
      <p:sp>
        <p:nvSpPr>
          <p:cNvPr id="8" name="Text 6"/>
          <p:cNvSpPr/>
          <p:nvPr/>
        </p:nvSpPr>
        <p:spPr>
          <a:xfrm>
            <a:off x="3762911" y="3212485"/>
            <a:ext cx="20329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A16"/>
                </a:solidFill>
                <a:latin typeface="Space Grotesk" pitchFamily="34" charset="0"/>
                <a:ea typeface="Space Grotesk" pitchFamily="34" charset="-122"/>
                <a:cs typeface="Space Grotesk" pitchFamily="34" charset="-120"/>
              </a:rPr>
              <a:t>Discord</a:t>
            </a:r>
            <a:endParaRPr lang="en-US" sz="2000" dirty="0"/>
          </a:p>
        </p:txBody>
      </p:sp>
      <p:sp>
        <p:nvSpPr>
          <p:cNvPr id="9" name="Text 7"/>
          <p:cNvSpPr/>
          <p:nvPr/>
        </p:nvSpPr>
        <p:spPr>
          <a:xfrm>
            <a:off x="3762911" y="3618846"/>
            <a:ext cx="2032910"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54"/>
                </a:solidFill>
                <a:latin typeface="Space Grotesk" pitchFamily="34" charset="0"/>
                <a:ea typeface="Space Grotesk" pitchFamily="34" charset="-122"/>
                <a:cs typeface="Space Grotesk" pitchFamily="34" charset="-120"/>
              </a:rPr>
              <a:t>Accounts, invites, a server that outlives the event</a:t>
            </a:r>
            <a:endParaRPr lang="en-US" sz="1400" dirty="0"/>
          </a:p>
        </p:txBody>
      </p:sp>
      <p:sp>
        <p:nvSpPr>
          <p:cNvPr id="10" name="Shape 8"/>
          <p:cNvSpPr/>
          <p:nvPr/>
        </p:nvSpPr>
        <p:spPr>
          <a:xfrm>
            <a:off x="6200735" y="2957890"/>
            <a:ext cx="2482890" cy="1940441"/>
          </a:xfrm>
          <a:prstGeom prst="roundRect">
            <a:avLst>
              <a:gd name="adj" fmla="val 6381"/>
            </a:avLst>
          </a:prstGeom>
          <a:solidFill>
            <a:srgbClr val="FBFAF6"/>
          </a:solidFill>
          <a:ln w="6350">
            <a:solidFill>
              <a:srgbClr val="DCD8CC"/>
            </a:solidFill>
            <a:prstDash val="solid"/>
          </a:ln>
        </p:spPr>
      </p:sp>
      <p:sp>
        <p:nvSpPr>
          <p:cNvPr id="11" name="Text 9"/>
          <p:cNvSpPr/>
          <p:nvPr/>
        </p:nvSpPr>
        <p:spPr>
          <a:xfrm>
            <a:off x="6455331" y="3212485"/>
            <a:ext cx="20329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A16"/>
                </a:solidFill>
                <a:latin typeface="Space Grotesk" pitchFamily="34" charset="0"/>
                <a:ea typeface="Space Grotesk" pitchFamily="34" charset="-122"/>
                <a:cs typeface="Space Grotesk" pitchFamily="34" charset="-120"/>
              </a:rPr>
              <a:t>AirDrop</a:t>
            </a:r>
            <a:endParaRPr lang="en-US" sz="2000" dirty="0"/>
          </a:p>
        </p:txBody>
      </p:sp>
      <p:sp>
        <p:nvSpPr>
          <p:cNvPr id="12" name="Text 10"/>
          <p:cNvSpPr/>
          <p:nvPr/>
        </p:nvSpPr>
        <p:spPr>
          <a:xfrm>
            <a:off x="6455331" y="3618846"/>
            <a:ext cx="203291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54"/>
                </a:solidFill>
                <a:latin typeface="Space Grotesk" pitchFamily="34" charset="0"/>
                <a:ea typeface="Space Grotesk" pitchFamily="34" charset="-122"/>
                <a:cs typeface="Space Grotesk" pitchFamily="34" charset="-120"/>
              </a:rPr>
              <a:t>Apple only, in the room only, no history</a:t>
            </a:r>
            <a:endParaRPr lang="en-US" sz="1400" dirty="0"/>
          </a:p>
        </p:txBody>
      </p:sp>
      <p:sp>
        <p:nvSpPr>
          <p:cNvPr id="13" name="Shape 11"/>
          <p:cNvSpPr/>
          <p:nvPr/>
        </p:nvSpPr>
        <p:spPr>
          <a:xfrm>
            <a:off x="8893156" y="2957890"/>
            <a:ext cx="2482890" cy="1940441"/>
          </a:xfrm>
          <a:prstGeom prst="roundRect">
            <a:avLst>
              <a:gd name="adj" fmla="val 6381"/>
            </a:avLst>
          </a:prstGeom>
          <a:solidFill>
            <a:srgbClr val="FBFAF6"/>
          </a:solidFill>
          <a:ln w="6350">
            <a:solidFill>
              <a:srgbClr val="DCD8CC"/>
            </a:solidFill>
            <a:prstDash val="solid"/>
          </a:ln>
        </p:spPr>
      </p:sp>
      <p:sp>
        <p:nvSpPr>
          <p:cNvPr id="14" name="Text 12"/>
          <p:cNvSpPr/>
          <p:nvPr/>
        </p:nvSpPr>
        <p:spPr>
          <a:xfrm>
            <a:off x="9147751" y="3212485"/>
            <a:ext cx="20329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A16"/>
                </a:solidFill>
                <a:latin typeface="Space Grotesk" pitchFamily="34" charset="0"/>
                <a:ea typeface="Space Grotesk" pitchFamily="34" charset="-122"/>
                <a:cs typeface="Space Grotesk" pitchFamily="34" charset="-120"/>
              </a:rPr>
              <a:t>Google Drive</a:t>
            </a:r>
            <a:endParaRPr lang="en-US" sz="2000" dirty="0"/>
          </a:p>
        </p:txBody>
      </p:sp>
      <p:sp>
        <p:nvSpPr>
          <p:cNvPr id="15" name="Text 13"/>
          <p:cNvSpPr/>
          <p:nvPr/>
        </p:nvSpPr>
        <p:spPr>
          <a:xfrm>
            <a:off x="9147751" y="3618846"/>
            <a:ext cx="203291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54"/>
                </a:solidFill>
                <a:latin typeface="Space Grotesk" pitchFamily="34" charset="0"/>
                <a:ea typeface="Space Grotesk" pitchFamily="34" charset="-122"/>
                <a:cs typeface="Space Grotesk" pitchFamily="34" charset="-120"/>
              </a:rPr>
              <a:t>Logins, permissions, a link that lives forever</a:t>
            </a:r>
            <a:endParaRPr lang="en-US" sz="1400" dirty="0"/>
          </a:p>
        </p:txBody>
      </p:sp>
      <p:sp>
        <p:nvSpPr>
          <p:cNvPr id="16" name="Text 14"/>
          <p:cNvSpPr/>
          <p:nvPr/>
        </p:nvSpPr>
        <p:spPr>
          <a:xfrm>
            <a:off x="812780" y="5679460"/>
            <a:ext cx="10883434"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0B1A16"/>
                </a:solidFill>
                <a:latin typeface="Space Grotesk" pitchFamily="34" charset="0"/>
                <a:ea typeface="Space Grotesk" pitchFamily="34" charset="-122"/>
                <a:cs typeface="Space Grotesk" pitchFamily="34" charset="-120"/>
              </a:rPr>
              <a:t>Every option makes a </a:t>
            </a:r>
            <a:r>
              <a:rPr lang="en-US" sz="2400" b="1" dirty="0">
                <a:solidFill>
                  <a:srgbClr val="B3261E"/>
                </a:solidFill>
                <a:latin typeface="Space Grotesk" pitchFamily="34" charset="0"/>
                <a:ea typeface="Space Grotesk" pitchFamily="34" charset="-122"/>
                <a:cs typeface="Space Grotesk" pitchFamily="34" charset="-120"/>
              </a:rPr>
              <a:t>permanent</a:t>
            </a:r>
            <a:r>
              <a:rPr lang="en-US" sz="2400" b="1" dirty="0">
                <a:solidFill>
                  <a:srgbClr val="0B1A16"/>
                </a:solidFill>
                <a:latin typeface="Space Grotesk" pitchFamily="34" charset="0"/>
                <a:ea typeface="Space Grotesk" pitchFamily="34" charset="-122"/>
                <a:cs typeface="Space Grotesk" pitchFamily="34" charset="-120"/>
              </a:rPr>
              <a:t> thing for a </a:t>
            </a:r>
            <a:r>
              <a:rPr lang="en-US" sz="2400" b="1" dirty="0">
                <a:solidFill>
                  <a:srgbClr val="00684A"/>
                </a:solidFill>
                <a:latin typeface="Space Grotesk" pitchFamily="34" charset="0"/>
                <a:ea typeface="Space Grotesk" pitchFamily="34" charset="-122"/>
                <a:cs typeface="Space Grotesk" pitchFamily="34" charset="-120"/>
              </a:rPr>
              <a:t>temporary</a:t>
            </a:r>
            <a:r>
              <a:rPr lang="en-US" sz="2400" b="1" dirty="0">
                <a:solidFill>
                  <a:srgbClr val="0B1A16"/>
                </a:solidFill>
                <a:latin typeface="Space Grotesk" pitchFamily="34" charset="0"/>
                <a:ea typeface="Space Grotesk" pitchFamily="34" charset="-122"/>
                <a:cs typeface="Space Grotesk" pitchFamily="34" charset="-120"/>
              </a:rPr>
              <a:t> need.</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A16"/>
        </a:solidFill>
      </p:bgPr>
    </p:bg>
    <p:spTree>
      <p:nvGrpSpPr>
        <p:cNvPr id="1" name=""/>
        <p:cNvGrpSpPr/>
        <p:nvPr/>
      </p:nvGrpSpPr>
      <p:grpSpPr>
        <a:xfrm>
          <a:off x="0" y="0"/>
          <a:ext cx="0" cy="0"/>
          <a:chOff x="0" y="0"/>
          <a:chExt cx="0" cy="0"/>
        </a:xfrm>
      </p:grpSpPr>
      <p:sp>
        <p:nvSpPr>
          <p:cNvPr id="2" name="Text 0"/>
          <p:cNvSpPr/>
          <p:nvPr/>
        </p:nvSpPr>
        <p:spPr>
          <a:xfrm>
            <a:off x="812780" y="812781"/>
            <a:ext cx="10883434" cy="25650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00ED64"/>
                </a:solidFill>
                <a:latin typeface="JetBrains Mono" pitchFamily="49" charset="0"/>
                <a:ea typeface="JetBrains Mono" pitchFamily="49" charset="-122"/>
                <a:cs typeface="JetBrains Mono" pitchFamily="49" charset="-120"/>
              </a:rPr>
              <a:t>THE PRODUCT</a:t>
            </a:r>
            <a:endParaRPr lang="en-US" sz="1300" dirty="0"/>
          </a:p>
        </p:txBody>
      </p:sp>
      <p:sp>
        <p:nvSpPr>
          <p:cNvPr id="3" name="Text 1"/>
          <p:cNvSpPr/>
          <p:nvPr>
            <p:ph type="title"/>
          </p:nvPr>
        </p:nvSpPr>
        <p:spPr>
          <a:xfrm>
            <a:off x="812780" y="1170862"/>
            <a:ext cx="10883434" cy="66548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F3F1EA"/>
                </a:solidFill>
                <a:latin typeface="Space Grotesk" pitchFamily="34" charset="0"/>
                <a:ea typeface="Space Grotesk" pitchFamily="34" charset="-122"/>
                <a:cs typeface="Space Grotesk" pitchFamily="34" charset="-120"/>
              </a:rPr>
              <a:t>Kahoot, for working together.</a:t>
            </a:r>
            <a:endParaRPr lang="en-US" sz="4800" dirty="0"/>
          </a:p>
        </p:txBody>
      </p:sp>
      <p:sp>
        <p:nvSpPr>
          <p:cNvPr id="4" name="Shape 2"/>
          <p:cNvSpPr/>
          <p:nvPr/>
        </p:nvSpPr>
        <p:spPr>
          <a:xfrm>
            <a:off x="815955" y="2789417"/>
            <a:ext cx="1984970" cy="1919307"/>
          </a:xfrm>
          <a:prstGeom prst="roundRect">
            <a:avLst>
              <a:gd name="adj" fmla="val 6452"/>
            </a:avLst>
          </a:prstGeom>
          <a:solidFill>
            <a:srgbClr val="12261F"/>
          </a:solidFill>
          <a:ln w="6350">
            <a:solidFill>
              <a:srgbClr val="1F3A31"/>
            </a:solidFill>
            <a:prstDash val="solid"/>
          </a:ln>
        </p:spPr>
      </p:sp>
      <p:sp>
        <p:nvSpPr>
          <p:cNvPr id="5" name="Text 3"/>
          <p:cNvSpPr/>
          <p:nvPr/>
        </p:nvSpPr>
        <p:spPr>
          <a:xfrm>
            <a:off x="1019770" y="2993231"/>
            <a:ext cx="162814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ED64"/>
                </a:solidFill>
                <a:latin typeface="JetBrains Mono" pitchFamily="49" charset="0"/>
                <a:ea typeface="JetBrains Mono" pitchFamily="49" charset="-122"/>
                <a:cs typeface="JetBrains Mono" pitchFamily="49" charset="-120"/>
              </a:rPr>
              <a:t>01</a:t>
            </a:r>
            <a:endParaRPr lang="en-US" sz="2200" dirty="0"/>
          </a:p>
        </p:txBody>
      </p:sp>
      <p:sp>
        <p:nvSpPr>
          <p:cNvPr id="6" name="Text 4"/>
          <p:cNvSpPr/>
          <p:nvPr/>
        </p:nvSpPr>
        <p:spPr>
          <a:xfrm>
            <a:off x="1019770" y="3473233"/>
            <a:ext cx="162814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3F1EA"/>
                </a:solidFill>
                <a:latin typeface="Space Grotesk" pitchFamily="34" charset="0"/>
                <a:ea typeface="Space Grotesk" pitchFamily="34" charset="-122"/>
                <a:cs typeface="Space Grotesk" pitchFamily="34" charset="-120"/>
              </a:rPr>
              <a:t>Create</a:t>
            </a:r>
            <a:endParaRPr lang="en-US" sz="1700" dirty="0"/>
          </a:p>
        </p:txBody>
      </p:sp>
      <p:sp>
        <p:nvSpPr>
          <p:cNvPr id="7" name="Text 5"/>
          <p:cNvSpPr/>
          <p:nvPr/>
        </p:nvSpPr>
        <p:spPr>
          <a:xfrm>
            <a:off x="1019770" y="3821193"/>
            <a:ext cx="1628140" cy="47105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9C2"/>
                </a:solidFill>
                <a:latin typeface="Space Grotesk" pitchFamily="34" charset="0"/>
                <a:ea typeface="Space Grotesk" pitchFamily="34" charset="-122"/>
                <a:cs typeface="Space Grotesk" pitchFamily="34" charset="-120"/>
              </a:rPr>
              <a:t>Host gets a QR and a 6-digit PIN</a:t>
            </a:r>
            <a:endParaRPr lang="en-US" sz="1300" dirty="0"/>
          </a:p>
        </p:txBody>
      </p:sp>
      <p:sp>
        <p:nvSpPr>
          <p:cNvPr id="8" name="Shape 6"/>
          <p:cNvSpPr/>
          <p:nvPr/>
        </p:nvSpPr>
        <p:spPr>
          <a:xfrm>
            <a:off x="2959676" y="2789417"/>
            <a:ext cx="1985030" cy="1919307"/>
          </a:xfrm>
          <a:prstGeom prst="roundRect">
            <a:avLst>
              <a:gd name="adj" fmla="val 6452"/>
            </a:avLst>
          </a:prstGeom>
          <a:solidFill>
            <a:srgbClr val="12261F"/>
          </a:solidFill>
          <a:ln w="6350">
            <a:solidFill>
              <a:srgbClr val="1F3A31"/>
            </a:solidFill>
            <a:prstDash val="solid"/>
          </a:ln>
        </p:spPr>
      </p:sp>
      <p:sp>
        <p:nvSpPr>
          <p:cNvPr id="9" name="Text 7"/>
          <p:cNvSpPr/>
          <p:nvPr/>
        </p:nvSpPr>
        <p:spPr>
          <a:xfrm>
            <a:off x="3163491" y="2993231"/>
            <a:ext cx="1628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ED64"/>
                </a:solidFill>
                <a:latin typeface="JetBrains Mono" pitchFamily="49" charset="0"/>
                <a:ea typeface="JetBrains Mono" pitchFamily="49" charset="-122"/>
                <a:cs typeface="JetBrains Mono" pitchFamily="49" charset="-120"/>
              </a:rPr>
              <a:t>02</a:t>
            </a:r>
            <a:endParaRPr lang="en-US" sz="2200" dirty="0"/>
          </a:p>
        </p:txBody>
      </p:sp>
      <p:sp>
        <p:nvSpPr>
          <p:cNvPr id="10" name="Text 8"/>
          <p:cNvSpPr/>
          <p:nvPr/>
        </p:nvSpPr>
        <p:spPr>
          <a:xfrm>
            <a:off x="3163491" y="3473233"/>
            <a:ext cx="162820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3F1EA"/>
                </a:solidFill>
                <a:latin typeface="Space Grotesk" pitchFamily="34" charset="0"/>
                <a:ea typeface="Space Grotesk" pitchFamily="34" charset="-122"/>
                <a:cs typeface="Space Grotesk" pitchFamily="34" charset="-120"/>
              </a:rPr>
              <a:t>Join</a:t>
            </a:r>
            <a:endParaRPr lang="en-US" sz="1700" dirty="0"/>
          </a:p>
        </p:txBody>
      </p:sp>
      <p:sp>
        <p:nvSpPr>
          <p:cNvPr id="11" name="Text 9"/>
          <p:cNvSpPr/>
          <p:nvPr/>
        </p:nvSpPr>
        <p:spPr>
          <a:xfrm>
            <a:off x="3163491" y="3821193"/>
            <a:ext cx="1628200" cy="69387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9C2"/>
                </a:solidFill>
                <a:latin typeface="Space Grotesk" pitchFamily="34" charset="0"/>
                <a:ea typeface="Space Grotesk" pitchFamily="34" charset="-122"/>
                <a:cs typeface="Space Grotesk" pitchFamily="34" charset="-120"/>
              </a:rPr>
              <a:t>A nickname. No email, no password, no app</a:t>
            </a:r>
            <a:endParaRPr lang="en-US" sz="1300" dirty="0"/>
          </a:p>
        </p:txBody>
      </p:sp>
      <p:sp>
        <p:nvSpPr>
          <p:cNvPr id="12" name="Shape 10"/>
          <p:cNvSpPr/>
          <p:nvPr/>
        </p:nvSpPr>
        <p:spPr>
          <a:xfrm>
            <a:off x="5103456" y="2789417"/>
            <a:ext cx="1985030" cy="1919307"/>
          </a:xfrm>
          <a:prstGeom prst="roundRect">
            <a:avLst>
              <a:gd name="adj" fmla="val 6452"/>
            </a:avLst>
          </a:prstGeom>
          <a:solidFill>
            <a:srgbClr val="12261F"/>
          </a:solidFill>
          <a:ln w="6350">
            <a:solidFill>
              <a:srgbClr val="1F3A31"/>
            </a:solidFill>
            <a:prstDash val="solid"/>
          </a:ln>
        </p:spPr>
      </p:sp>
      <p:sp>
        <p:nvSpPr>
          <p:cNvPr id="13" name="Text 11"/>
          <p:cNvSpPr/>
          <p:nvPr/>
        </p:nvSpPr>
        <p:spPr>
          <a:xfrm>
            <a:off x="5307271" y="2993231"/>
            <a:ext cx="1628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ED64"/>
                </a:solidFill>
                <a:latin typeface="JetBrains Mono" pitchFamily="49" charset="0"/>
                <a:ea typeface="JetBrains Mono" pitchFamily="49" charset="-122"/>
                <a:cs typeface="JetBrains Mono" pitchFamily="49" charset="-120"/>
              </a:rPr>
              <a:t>03</a:t>
            </a:r>
            <a:endParaRPr lang="en-US" sz="2200" dirty="0"/>
          </a:p>
        </p:txBody>
      </p:sp>
      <p:sp>
        <p:nvSpPr>
          <p:cNvPr id="14" name="Text 12"/>
          <p:cNvSpPr/>
          <p:nvPr/>
        </p:nvSpPr>
        <p:spPr>
          <a:xfrm>
            <a:off x="5307271" y="3473233"/>
            <a:ext cx="162820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3F1EA"/>
                </a:solidFill>
                <a:latin typeface="Space Grotesk" pitchFamily="34" charset="0"/>
                <a:ea typeface="Space Grotesk" pitchFamily="34" charset="-122"/>
                <a:cs typeface="Space Grotesk" pitchFamily="34" charset="-120"/>
              </a:rPr>
              <a:t>Share</a:t>
            </a:r>
            <a:endParaRPr lang="en-US" sz="1700" dirty="0"/>
          </a:p>
        </p:txBody>
      </p:sp>
      <p:sp>
        <p:nvSpPr>
          <p:cNvPr id="15" name="Text 13"/>
          <p:cNvSpPr/>
          <p:nvPr/>
        </p:nvSpPr>
        <p:spPr>
          <a:xfrm>
            <a:off x="5307271" y="3821193"/>
            <a:ext cx="1628200" cy="69387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9C2"/>
                </a:solidFill>
                <a:latin typeface="Space Grotesk" pitchFamily="34" charset="0"/>
                <a:ea typeface="Space Grotesk" pitchFamily="34" charset="-122"/>
                <a:cs typeface="Space Grotesk" pitchFamily="34" charset="-120"/>
              </a:rPr>
              <a:t>Files open big, chat beside them, @mention a file</a:t>
            </a:r>
            <a:endParaRPr lang="en-US" sz="1300" dirty="0"/>
          </a:p>
        </p:txBody>
      </p:sp>
      <p:sp>
        <p:nvSpPr>
          <p:cNvPr id="16" name="Shape 14"/>
          <p:cNvSpPr/>
          <p:nvPr/>
        </p:nvSpPr>
        <p:spPr>
          <a:xfrm>
            <a:off x="7247235" y="2789417"/>
            <a:ext cx="1985030" cy="1919307"/>
          </a:xfrm>
          <a:prstGeom prst="roundRect">
            <a:avLst>
              <a:gd name="adj" fmla="val 6452"/>
            </a:avLst>
          </a:prstGeom>
          <a:solidFill>
            <a:srgbClr val="12261F"/>
          </a:solidFill>
          <a:ln w="6350">
            <a:solidFill>
              <a:srgbClr val="1F3A31"/>
            </a:solidFill>
            <a:prstDash val="solid"/>
          </a:ln>
        </p:spPr>
      </p:sp>
      <p:sp>
        <p:nvSpPr>
          <p:cNvPr id="17" name="Text 15"/>
          <p:cNvSpPr/>
          <p:nvPr/>
        </p:nvSpPr>
        <p:spPr>
          <a:xfrm>
            <a:off x="7451051" y="2993231"/>
            <a:ext cx="1628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ED64"/>
                </a:solidFill>
                <a:latin typeface="JetBrains Mono" pitchFamily="49" charset="0"/>
                <a:ea typeface="JetBrains Mono" pitchFamily="49" charset="-122"/>
                <a:cs typeface="JetBrains Mono" pitchFamily="49" charset="-120"/>
              </a:rPr>
              <a:t>04</a:t>
            </a:r>
            <a:endParaRPr lang="en-US" sz="2200" dirty="0"/>
          </a:p>
        </p:txBody>
      </p:sp>
      <p:sp>
        <p:nvSpPr>
          <p:cNvPr id="18" name="Text 16"/>
          <p:cNvSpPr/>
          <p:nvPr/>
        </p:nvSpPr>
        <p:spPr>
          <a:xfrm>
            <a:off x="7451051" y="3473233"/>
            <a:ext cx="162820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3F1EA"/>
                </a:solidFill>
                <a:latin typeface="Space Grotesk" pitchFamily="34" charset="0"/>
                <a:ea typeface="Space Grotesk" pitchFamily="34" charset="-122"/>
                <a:cs typeface="Space Grotesk" pitchFamily="34" charset="-120"/>
              </a:rPr>
              <a:t>Catch up</a:t>
            </a:r>
            <a:endParaRPr lang="en-US" sz="1700" dirty="0"/>
          </a:p>
        </p:txBody>
      </p:sp>
      <p:sp>
        <p:nvSpPr>
          <p:cNvPr id="19" name="Text 17"/>
          <p:cNvSpPr/>
          <p:nvPr/>
        </p:nvSpPr>
        <p:spPr>
          <a:xfrm>
            <a:off x="7451051" y="3821193"/>
            <a:ext cx="1628200" cy="69387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9C2"/>
                </a:solidFill>
                <a:latin typeface="Space Grotesk" pitchFamily="34" charset="0"/>
                <a:ea typeface="Space Grotesk" pitchFamily="34" charset="-122"/>
                <a:cs typeface="Space Grotesk" pitchFamily="34" charset="-120"/>
              </a:rPr>
              <a:t>Join 3 hours late, get the whole history</a:t>
            </a:r>
            <a:endParaRPr lang="en-US" sz="1300" dirty="0"/>
          </a:p>
        </p:txBody>
      </p:sp>
      <p:sp>
        <p:nvSpPr>
          <p:cNvPr id="20" name="Shape 18"/>
          <p:cNvSpPr/>
          <p:nvPr/>
        </p:nvSpPr>
        <p:spPr>
          <a:xfrm>
            <a:off x="9394190" y="2792592"/>
            <a:ext cx="1978680" cy="1912957"/>
          </a:xfrm>
          <a:prstGeom prst="roundRect">
            <a:avLst>
              <a:gd name="adj" fmla="val 6307"/>
            </a:avLst>
          </a:prstGeom>
          <a:solidFill>
            <a:srgbClr val="12261F"/>
          </a:solidFill>
          <a:ln w="12700">
            <a:solidFill>
              <a:srgbClr val="FFB547"/>
            </a:solidFill>
            <a:prstDash val="solid"/>
          </a:ln>
        </p:spPr>
      </p:sp>
      <p:sp>
        <p:nvSpPr>
          <p:cNvPr id="21" name="Text 19"/>
          <p:cNvSpPr/>
          <p:nvPr/>
        </p:nvSpPr>
        <p:spPr>
          <a:xfrm>
            <a:off x="9602450" y="3000852"/>
            <a:ext cx="16129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B547"/>
                </a:solidFill>
                <a:latin typeface="JetBrains Mono" pitchFamily="49" charset="0"/>
                <a:ea typeface="JetBrains Mono" pitchFamily="49" charset="-122"/>
                <a:cs typeface="JetBrains Mono" pitchFamily="49" charset="-120"/>
              </a:rPr>
              <a:t>05</a:t>
            </a:r>
            <a:endParaRPr lang="en-US" sz="2200" dirty="0"/>
          </a:p>
        </p:txBody>
      </p:sp>
      <p:sp>
        <p:nvSpPr>
          <p:cNvPr id="22" name="Text 20"/>
          <p:cNvSpPr/>
          <p:nvPr/>
        </p:nvSpPr>
        <p:spPr>
          <a:xfrm>
            <a:off x="9602450" y="3480853"/>
            <a:ext cx="161296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3F1EA"/>
                </a:solidFill>
                <a:latin typeface="Space Grotesk" pitchFamily="34" charset="0"/>
                <a:ea typeface="Space Grotesk" pitchFamily="34" charset="-122"/>
                <a:cs typeface="Space Grotesk" pitchFamily="34" charset="-120"/>
              </a:rPr>
              <a:t>Close</a:t>
            </a:r>
            <a:endParaRPr lang="en-US" sz="1700" dirty="0"/>
          </a:p>
        </p:txBody>
      </p:sp>
      <p:sp>
        <p:nvSpPr>
          <p:cNvPr id="23" name="Text 21"/>
          <p:cNvSpPr/>
          <p:nvPr/>
        </p:nvSpPr>
        <p:spPr>
          <a:xfrm>
            <a:off x="9602450" y="3828813"/>
            <a:ext cx="1612960" cy="69387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9C2"/>
                </a:solidFill>
                <a:latin typeface="Space Grotesk" pitchFamily="34" charset="0"/>
                <a:ea typeface="Space Grotesk" pitchFamily="34" charset="-122"/>
                <a:cs typeface="Space Grotesk" pitchFamily="34" charset="-120"/>
              </a:rPr>
              <a:t>Hidden at once, gone from Atlas in about 60 s</a:t>
            </a:r>
            <a:endParaRPr lang="en-US" sz="1300" dirty="0"/>
          </a:p>
        </p:txBody>
      </p:sp>
      <p:sp>
        <p:nvSpPr>
          <p:cNvPr id="24" name="Text 22"/>
          <p:cNvSpPr/>
          <p:nvPr/>
        </p:nvSpPr>
        <p:spPr>
          <a:xfrm>
            <a:off x="812780" y="5741730"/>
            <a:ext cx="2777669" cy="2743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9C2"/>
                </a:solidFill>
                <a:latin typeface="Space Grotesk" pitchFamily="34" charset="0"/>
                <a:ea typeface="Space Grotesk" pitchFamily="34" charset="-122"/>
                <a:cs typeface="Space Grotesk" pitchFamily="34" charset="-120"/>
              </a:rPr>
              <a:t>Lifetime 1 to 48 hours. Built for:</a:t>
            </a:r>
            <a:endParaRPr lang="en-US" sz="1400" dirty="0"/>
          </a:p>
        </p:txBody>
      </p:sp>
      <p:sp>
        <p:nvSpPr>
          <p:cNvPr id="25" name="Text 23"/>
          <p:cNvSpPr/>
          <p:nvPr/>
        </p:nvSpPr>
        <p:spPr>
          <a:xfrm>
            <a:off x="3590449" y="5687200"/>
            <a:ext cx="1903571" cy="358021"/>
          </a:xfrm>
          <a:prstGeom prst="roundRect">
            <a:avLst>
              <a:gd name="adj" fmla="val 50000"/>
            </a:avLst>
          </a:prstGeom>
          <a:solidFill>
            <a:srgbClr val="1F3A31"/>
          </a:solidFill>
          <a:ln/>
        </p:spPr>
        <p:txBody>
          <a:bodyPr wrap="none" lIns="0" tIns="0" rIns="0" bIns="0" rtlCol="0" anchor="ctr">
            <a:normAutofit/>
          </a:bodyPr>
          <a:lstStyle/>
          <a:p>
            <a:pPr algn="ctr" indent="0" marL="0">
              <a:lnSpc>
                <a:spcPts val="1820"/>
              </a:lnSpc>
              <a:buNone/>
            </a:pPr>
            <a:r>
              <a:rPr lang="en-US" sz="1300" dirty="0">
                <a:solidFill>
                  <a:srgbClr val="F3F1EA"/>
                </a:solidFill>
                <a:latin typeface="Space Grotesk" pitchFamily="34" charset="0"/>
                <a:ea typeface="Space Grotesk" pitchFamily="34" charset="-122"/>
                <a:cs typeface="Space Grotesk" pitchFamily="34" charset="-120"/>
              </a:rPr>
              <a:t>the hackathon table</a:t>
            </a:r>
            <a:endParaRPr lang="en-US" sz="1300" dirty="0"/>
          </a:p>
        </p:txBody>
      </p:sp>
      <p:sp>
        <p:nvSpPr>
          <p:cNvPr id="26" name="Text 24"/>
          <p:cNvSpPr/>
          <p:nvPr/>
        </p:nvSpPr>
        <p:spPr>
          <a:xfrm>
            <a:off x="5595581" y="5687200"/>
            <a:ext cx="1849398" cy="358021"/>
          </a:xfrm>
          <a:prstGeom prst="roundRect">
            <a:avLst>
              <a:gd name="adj" fmla="val 50000"/>
            </a:avLst>
          </a:prstGeom>
          <a:solidFill>
            <a:srgbClr val="1F3A31"/>
          </a:solidFill>
          <a:ln/>
        </p:spPr>
        <p:txBody>
          <a:bodyPr wrap="none" lIns="0" tIns="0" rIns="0" bIns="0" rtlCol="0" anchor="ctr">
            <a:normAutofit/>
          </a:bodyPr>
          <a:lstStyle/>
          <a:p>
            <a:pPr algn="ctr" indent="0" marL="0">
              <a:lnSpc>
                <a:spcPts val="1820"/>
              </a:lnSpc>
              <a:buNone/>
            </a:pPr>
            <a:r>
              <a:rPr lang="en-US" sz="1300" dirty="0">
                <a:solidFill>
                  <a:srgbClr val="F3F1EA"/>
                </a:solidFill>
                <a:latin typeface="Space Grotesk" pitchFamily="34" charset="0"/>
                <a:ea typeface="Space Grotesk" pitchFamily="34" charset="-122"/>
                <a:cs typeface="Space Grotesk" pitchFamily="34" charset="-120"/>
              </a:rPr>
              <a:t>the 100-person talk</a:t>
            </a:r>
            <a:endParaRPr lang="en-US" sz="1300" dirty="0"/>
          </a:p>
        </p:txBody>
      </p:sp>
      <p:sp>
        <p:nvSpPr>
          <p:cNvPr id="27" name="Text 25"/>
          <p:cNvSpPr/>
          <p:nvPr/>
        </p:nvSpPr>
        <p:spPr>
          <a:xfrm>
            <a:off x="7546539" y="5687200"/>
            <a:ext cx="2368451" cy="358021"/>
          </a:xfrm>
          <a:prstGeom prst="roundRect">
            <a:avLst>
              <a:gd name="adj" fmla="val 50000"/>
            </a:avLst>
          </a:prstGeom>
          <a:solidFill>
            <a:srgbClr val="1F3A31"/>
          </a:solidFill>
          <a:ln/>
        </p:spPr>
        <p:txBody>
          <a:bodyPr wrap="none" lIns="0" tIns="0" rIns="0" bIns="0" rtlCol="0" anchor="ctr">
            <a:normAutofit/>
          </a:bodyPr>
          <a:lstStyle/>
          <a:p>
            <a:pPr algn="ctr" indent="0" marL="0">
              <a:lnSpc>
                <a:spcPts val="1820"/>
              </a:lnSpc>
              <a:buNone/>
            </a:pPr>
            <a:r>
              <a:rPr lang="en-US" sz="1300" dirty="0">
                <a:solidFill>
                  <a:srgbClr val="F3F1EA"/>
                </a:solidFill>
                <a:latin typeface="Space Grotesk" pitchFamily="34" charset="0"/>
                <a:ea typeface="Space Grotesk" pitchFamily="34" charset="-122"/>
                <a:cs typeface="Space Grotesk" pitchFamily="34" charset="-120"/>
              </a:rPr>
              <a:t>the 48-hour remote sprint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ED64"/>
        </a:solidFill>
      </p:bgPr>
    </p:bg>
    <p:spTree>
      <p:nvGrpSpPr>
        <p:cNvPr id="1" name=""/>
        <p:cNvGrpSpPr/>
        <p:nvPr/>
      </p:nvGrpSpPr>
      <p:grpSpPr>
        <a:xfrm>
          <a:off x="0" y="0"/>
          <a:ext cx="0" cy="0"/>
          <a:chOff x="0" y="0"/>
          <a:chExt cx="0" cy="0"/>
        </a:xfrm>
      </p:grpSpPr>
      <p:sp>
        <p:nvSpPr>
          <p:cNvPr id="2" name="Text 0"/>
          <p:cNvSpPr/>
          <p:nvPr/>
        </p:nvSpPr>
        <p:spPr>
          <a:xfrm>
            <a:off x="812780" y="1858327"/>
            <a:ext cx="5127773" cy="27430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B1A16"/>
                </a:solidFill>
                <a:latin typeface="JetBrains Mono" pitchFamily="49" charset="0"/>
                <a:ea typeface="JetBrains Mono" pitchFamily="49" charset="-122"/>
                <a:cs typeface="JetBrains Mono" pitchFamily="49" charset="-120"/>
              </a:rPr>
              <a:t>LIVE DEMO · 60 SECONDS</a:t>
            </a:r>
            <a:endParaRPr lang="en-US" sz="1400" dirty="0"/>
          </a:p>
        </p:txBody>
      </p:sp>
      <p:sp>
        <p:nvSpPr>
          <p:cNvPr id="3" name="Text 1"/>
          <p:cNvSpPr/>
          <p:nvPr>
            <p:ph type="title"/>
          </p:nvPr>
        </p:nvSpPr>
        <p:spPr>
          <a:xfrm>
            <a:off x="812780" y="2284988"/>
            <a:ext cx="5127773" cy="2740025"/>
          </a:xfrm>
          <a:prstGeom prst="rect">
            <a:avLst/>
          </a:prstGeom>
          <a:noFill/>
          <a:ln/>
        </p:spPr>
        <p:txBody>
          <a:bodyPr wrap="square" lIns="0" tIns="0" rIns="0" bIns="0" rtlCol="0" anchor="t">
            <a:normAutofit/>
          </a:bodyPr>
          <a:lstStyle/>
          <a:p>
            <a:pPr algn="l" indent="0" marL="0">
              <a:lnSpc>
                <a:spcPts val="7125"/>
              </a:lnSpc>
              <a:buNone/>
            </a:pPr>
            <a:r>
              <a:rPr lang="en-US" sz="7500" b="1" i="0" spc="-250" kern="0" dirty="0">
                <a:solidFill>
                  <a:srgbClr val="0B1A16"/>
                </a:solidFill>
                <a:latin typeface="Space Grotesk" pitchFamily="34" charset="0"/>
                <a:ea typeface="Space Grotesk" pitchFamily="34" charset="-122"/>
                <a:cs typeface="Space Grotesk" pitchFamily="34" charset="-120"/>
              </a:rPr>
              <a:t>Watch it.</a:t>
            </a:r>
            <a:endParaRPr lang="en-US" sz="7500" dirty="0"/>
          </a:p>
          <a:p>
            <a:pPr algn="l" indent="0" marL="0">
              <a:lnSpc>
                <a:spcPts val="7125"/>
              </a:lnSpc>
              <a:buNone/>
            </a:pPr>
            <a:r>
              <a:rPr lang="en-US" sz="7500" b="1" i="0" spc="-250" kern="0" dirty="0">
                <a:solidFill>
                  <a:srgbClr val="0B1A16"/>
                </a:solidFill>
                <a:latin typeface="Space Grotesk" pitchFamily="34" charset="0"/>
                <a:ea typeface="Space Grotesk" pitchFamily="34" charset="-122"/>
                <a:cs typeface="Space Grotesk" pitchFamily="34" charset="-120"/>
              </a:rPr>
              <a:t>Then use it.</a:t>
            </a:r>
            <a:endParaRPr lang="en-US" sz="7500" dirty="0"/>
          </a:p>
        </p:txBody>
      </p:sp>
      <p:sp>
        <p:nvSpPr>
          <p:cNvPr id="4" name="Shape 2"/>
          <p:cNvSpPr/>
          <p:nvPr/>
        </p:nvSpPr>
        <p:spPr>
          <a:xfrm>
            <a:off x="6400800" y="1651217"/>
            <a:ext cx="4978420" cy="675561"/>
          </a:xfrm>
          <a:prstGeom prst="roundRect">
            <a:avLst>
              <a:gd name="adj" fmla="val 18799"/>
            </a:avLst>
          </a:prstGeom>
          <a:solidFill>
            <a:srgbClr val="0B1A16"/>
          </a:solidFill>
          <a:ln/>
        </p:spPr>
      </p:sp>
      <p:pic>
        <p:nvPicPr>
          <p:cNvPr id="5" name="Image 0" descr="Check">    </p:cNvPr>
          <p:cNvPicPr>
            <a:picLocks noChangeAspect="1"/>
          </p:cNvPicPr>
          <p:nvPr/>
        </p:nvPicPr>
        <p:blipFill>
          <a:blip r:embed="rId1"/>
          <a:srcRect l="0" r="0" t="0" b="0"/>
          <a:stretch/>
        </p:blipFill>
        <p:spPr>
          <a:xfrm>
            <a:off x="6629400" y="1836598"/>
            <a:ext cx="304800" cy="304800"/>
          </a:xfrm>
          <a:prstGeom prst="rect">
            <a:avLst/>
          </a:prstGeom>
        </p:spPr>
      </p:pic>
      <p:sp>
        <p:nvSpPr>
          <p:cNvPr id="6" name="Text 3"/>
          <p:cNvSpPr/>
          <p:nvPr/>
        </p:nvSpPr>
        <p:spPr>
          <a:xfrm>
            <a:off x="7086600" y="1828978"/>
            <a:ext cx="3868269"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3F1EA"/>
                </a:solidFill>
                <a:latin typeface="Space Grotesk" pitchFamily="34" charset="0"/>
                <a:ea typeface="Space Grotesk" pitchFamily="34" charset="-122"/>
                <a:cs typeface="Space Grotesk" pitchFamily="34" charset="-120"/>
              </a:rPr>
              <a:t>Scan the QR, pick a nickname</a:t>
            </a:r>
            <a:endParaRPr lang="en-US" sz="1800" dirty="0"/>
          </a:p>
        </p:txBody>
      </p:sp>
      <p:sp>
        <p:nvSpPr>
          <p:cNvPr id="7" name="Shape 4"/>
          <p:cNvSpPr/>
          <p:nvPr/>
        </p:nvSpPr>
        <p:spPr>
          <a:xfrm>
            <a:off x="6400800" y="2504539"/>
            <a:ext cx="4978420" cy="675561"/>
          </a:xfrm>
          <a:prstGeom prst="roundRect">
            <a:avLst>
              <a:gd name="adj" fmla="val 18799"/>
            </a:avLst>
          </a:prstGeom>
          <a:solidFill>
            <a:srgbClr val="0B1A16"/>
          </a:solidFill>
          <a:ln/>
        </p:spPr>
      </p:sp>
      <p:pic>
        <p:nvPicPr>
          <p:cNvPr id="8" name="Image 1" descr="Check">    </p:cNvPr>
          <p:cNvPicPr>
            <a:picLocks noChangeAspect="1"/>
          </p:cNvPicPr>
          <p:nvPr/>
        </p:nvPicPr>
        <p:blipFill>
          <a:blip r:embed="rId2"/>
          <a:srcRect l="0" r="0" t="0" b="0"/>
          <a:stretch/>
        </p:blipFill>
        <p:spPr>
          <a:xfrm>
            <a:off x="6629400" y="2689920"/>
            <a:ext cx="304800" cy="304800"/>
          </a:xfrm>
          <a:prstGeom prst="rect">
            <a:avLst/>
          </a:prstGeom>
        </p:spPr>
      </p:pic>
      <p:sp>
        <p:nvSpPr>
          <p:cNvPr id="9" name="Text 5"/>
          <p:cNvSpPr/>
          <p:nvPr/>
        </p:nvSpPr>
        <p:spPr>
          <a:xfrm>
            <a:off x="7086600" y="2682298"/>
            <a:ext cx="4215384"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3F1EA"/>
                </a:solidFill>
                <a:latin typeface="Space Grotesk" pitchFamily="34" charset="0"/>
                <a:ea typeface="Space Grotesk" pitchFamily="34" charset="-122"/>
                <a:cs typeface="Space Grotesk" pitchFamily="34" charset="-120"/>
              </a:rPr>
              <a:t>Open a PDF, @mention it in chat</a:t>
            </a:r>
            <a:endParaRPr lang="en-US" sz="1800" dirty="0"/>
          </a:p>
        </p:txBody>
      </p:sp>
      <p:sp>
        <p:nvSpPr>
          <p:cNvPr id="10" name="Shape 6"/>
          <p:cNvSpPr/>
          <p:nvPr/>
        </p:nvSpPr>
        <p:spPr>
          <a:xfrm>
            <a:off x="6400800" y="3357860"/>
            <a:ext cx="4978420" cy="995601"/>
          </a:xfrm>
          <a:prstGeom prst="roundRect">
            <a:avLst>
              <a:gd name="adj" fmla="val 12756"/>
            </a:avLst>
          </a:prstGeom>
          <a:solidFill>
            <a:srgbClr val="0B1A16"/>
          </a:solidFill>
          <a:ln/>
        </p:spPr>
      </p:sp>
      <p:pic>
        <p:nvPicPr>
          <p:cNvPr id="11" name="Image 2" descr="Check">    </p:cNvPr>
          <p:cNvPicPr>
            <a:picLocks noChangeAspect="1"/>
          </p:cNvPicPr>
          <p:nvPr/>
        </p:nvPicPr>
        <p:blipFill>
          <a:blip r:embed="rId3"/>
          <a:srcRect l="-105" r="-105" t="0" b="0"/>
          <a:stretch/>
        </p:blipFill>
        <p:spPr>
          <a:xfrm>
            <a:off x="6629400" y="3703259"/>
            <a:ext cx="292715" cy="304800"/>
          </a:xfrm>
          <a:prstGeom prst="rect">
            <a:avLst/>
          </a:prstGeom>
        </p:spPr>
      </p:pic>
      <p:sp>
        <p:nvSpPr>
          <p:cNvPr id="12" name="Text 7"/>
          <p:cNvSpPr/>
          <p:nvPr/>
        </p:nvSpPr>
        <p:spPr>
          <a:xfrm>
            <a:off x="7074515" y="3535620"/>
            <a:ext cx="4198388"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3F1EA"/>
                </a:solidFill>
                <a:latin typeface="Space Grotesk" pitchFamily="34" charset="0"/>
                <a:ea typeface="Space Grotesk" pitchFamily="34" charset="-122"/>
                <a:cs typeface="Space Grotesk" pitchFamily="34" charset="-120"/>
              </a:rPr>
              <a:t>Paste a screenshot from the clipboard</a:t>
            </a:r>
            <a:endParaRPr lang="en-US" sz="1800" dirty="0"/>
          </a:p>
        </p:txBody>
      </p:sp>
      <p:sp>
        <p:nvSpPr>
          <p:cNvPr id="13" name="Shape 8"/>
          <p:cNvSpPr/>
          <p:nvPr/>
        </p:nvSpPr>
        <p:spPr>
          <a:xfrm>
            <a:off x="6400800" y="4531221"/>
            <a:ext cx="4978420" cy="675561"/>
          </a:xfrm>
          <a:prstGeom prst="roundRect">
            <a:avLst>
              <a:gd name="adj" fmla="val 18799"/>
            </a:avLst>
          </a:prstGeom>
          <a:solidFill>
            <a:srgbClr val="0B1A16"/>
          </a:solidFill>
          <a:ln/>
        </p:spPr>
      </p:sp>
      <p:pic>
        <p:nvPicPr>
          <p:cNvPr id="14" name="Image 3" descr="Search">    </p:cNvPr>
          <p:cNvPicPr>
            <a:picLocks noChangeAspect="1"/>
          </p:cNvPicPr>
          <p:nvPr/>
        </p:nvPicPr>
        <p:blipFill>
          <a:blip r:embed="rId4"/>
          <a:srcRect l="0" r="0" t="0" b="0"/>
          <a:stretch/>
        </p:blipFill>
        <p:spPr>
          <a:xfrm>
            <a:off x="6629400" y="4716600"/>
            <a:ext cx="304800" cy="304800"/>
          </a:xfrm>
          <a:prstGeom prst="rect">
            <a:avLst/>
          </a:prstGeom>
        </p:spPr>
      </p:pic>
      <p:sp>
        <p:nvSpPr>
          <p:cNvPr id="15" name="Text 9"/>
          <p:cNvSpPr/>
          <p:nvPr/>
        </p:nvSpPr>
        <p:spPr>
          <a:xfrm>
            <a:off x="7086600" y="4708981"/>
            <a:ext cx="2155698"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3F1EA"/>
                </a:solidFill>
                <a:latin typeface="Space Grotesk" pitchFamily="34" charset="0"/>
                <a:ea typeface="Space Grotesk" pitchFamily="34" charset="-122"/>
                <a:cs typeface="Space Grotesk" pitchFamily="34" charset="-120"/>
              </a:rPr>
              <a:t>Search “wifi pw”</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A16"/>
        </a:solidFill>
      </p:bgPr>
    </p:bg>
    <p:spTree>
      <p:nvGrpSpPr>
        <p:cNvPr id="1" name=""/>
        <p:cNvGrpSpPr/>
        <p:nvPr/>
      </p:nvGrpSpPr>
      <p:grpSpPr>
        <a:xfrm>
          <a:off x="0" y="0"/>
          <a:ext cx="0" cy="0"/>
          <a:chOff x="0" y="0"/>
          <a:chExt cx="0" cy="0"/>
        </a:xfrm>
      </p:grpSpPr>
      <p:sp>
        <p:nvSpPr>
          <p:cNvPr id="2" name="Text 0"/>
          <p:cNvSpPr/>
          <p:nvPr/>
        </p:nvSpPr>
        <p:spPr>
          <a:xfrm>
            <a:off x="812780" y="812781"/>
            <a:ext cx="10883434" cy="25650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00ED64"/>
                </a:solidFill>
                <a:latin typeface="JetBrains Mono" pitchFamily="49" charset="0"/>
                <a:ea typeface="JetBrains Mono" pitchFamily="49" charset="-122"/>
                <a:cs typeface="JetBrains Mono" pitchFamily="49" charset="-120"/>
              </a:rPr>
              <a:t>WHERE MONGODB DOES THE WORK</a:t>
            </a:r>
            <a:endParaRPr lang="en-US" sz="1300" dirty="0"/>
          </a:p>
        </p:txBody>
      </p:sp>
      <p:sp>
        <p:nvSpPr>
          <p:cNvPr id="3" name="Text 1"/>
          <p:cNvSpPr/>
          <p:nvPr>
            <p:ph type="title"/>
          </p:nvPr>
        </p:nvSpPr>
        <p:spPr>
          <a:xfrm>
            <a:off x="812780" y="1170862"/>
            <a:ext cx="10883434" cy="103124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1EA"/>
                </a:solidFill>
                <a:latin typeface="Space Grotesk" pitchFamily="34" charset="0"/>
                <a:ea typeface="Space Grotesk" pitchFamily="34" charset="-122"/>
                <a:cs typeface="Space Grotesk" pitchFamily="34" charset="-120"/>
              </a:rPr>
              <a:t>One date on every document.</a:t>
            </a:r>
            <a:endParaRPr lang="en-US" sz="3600" dirty="0"/>
          </a:p>
          <a:p>
            <a:pPr algn="l" indent="0" marL="0">
              <a:lnSpc>
                <a:spcPts val="3960"/>
              </a:lnSpc>
              <a:buNone/>
            </a:pPr>
            <a:r>
              <a:rPr lang="en-US" sz="3600" b="1" i="0" spc="-50" kern="0" dirty="0">
                <a:solidFill>
                  <a:srgbClr val="F3F1EA"/>
                </a:solidFill>
                <a:latin typeface="Space Grotesk" pitchFamily="34" charset="0"/>
                <a:ea typeface="Space Grotesk" pitchFamily="34" charset="-122"/>
                <a:cs typeface="Space Grotesk" pitchFamily="34" charset="-120"/>
              </a:rPr>
              <a:t>The database does the rest.</a:t>
            </a:r>
            <a:endParaRPr lang="en-US" sz="3600" dirty="0"/>
          </a:p>
        </p:txBody>
      </p:sp>
      <p:sp>
        <p:nvSpPr>
          <p:cNvPr id="4" name="Shape 2"/>
          <p:cNvSpPr/>
          <p:nvPr/>
        </p:nvSpPr>
        <p:spPr>
          <a:xfrm>
            <a:off x="815955" y="3135055"/>
            <a:ext cx="5187990" cy="1353820"/>
          </a:xfrm>
          <a:prstGeom prst="roundRect">
            <a:avLst>
              <a:gd name="adj" fmla="val 9146"/>
            </a:avLst>
          </a:prstGeom>
          <a:solidFill>
            <a:srgbClr val="12261F"/>
          </a:solidFill>
          <a:ln w="6350">
            <a:solidFill>
              <a:srgbClr val="1F3A31"/>
            </a:solidFill>
            <a:prstDash val="solid"/>
          </a:ln>
        </p:spPr>
      </p:sp>
      <p:sp>
        <p:nvSpPr>
          <p:cNvPr id="5" name="Text 3"/>
          <p:cNvSpPr/>
          <p:nvPr/>
        </p:nvSpPr>
        <p:spPr>
          <a:xfrm>
            <a:off x="1070551" y="3364291"/>
            <a:ext cx="48191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ED64"/>
                </a:solidFill>
                <a:latin typeface="Space Grotesk" pitchFamily="34" charset="0"/>
                <a:ea typeface="Space Grotesk" pitchFamily="34" charset="-122"/>
                <a:cs typeface="Space Grotesk" pitchFamily="34" charset="-120"/>
              </a:rPr>
              <a:t>TTL indexes</a:t>
            </a:r>
            <a:endParaRPr lang="en-US" sz="2000" dirty="0"/>
          </a:p>
        </p:txBody>
      </p:sp>
      <p:sp>
        <p:nvSpPr>
          <p:cNvPr id="6" name="Text 4"/>
          <p:cNvSpPr/>
          <p:nvPr/>
        </p:nvSpPr>
        <p:spPr>
          <a:xfrm>
            <a:off x="1070551" y="3745291"/>
            <a:ext cx="481916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8C9C2"/>
                </a:solidFill>
                <a:latin typeface="Space Grotesk" pitchFamily="34" charset="0"/>
                <a:ea typeface="Space Grotesk" pitchFamily="34" charset="-122"/>
                <a:cs typeface="Space Grotesk" pitchFamily="34" charset="-120"/>
              </a:rPr>
              <a:t>Every message, file and member carries </a:t>
            </a:r>
            <a:r>
              <a:rPr lang="en-US" sz="1500" dirty="0">
                <a:solidFill>
                  <a:srgbClr val="F3F1EA"/>
                </a:solidFill>
                <a:latin typeface="Space Grotesk" pitchFamily="34" charset="0"/>
                <a:ea typeface="Space Grotesk" pitchFamily="34" charset="-122"/>
                <a:cs typeface="Space Grotesk" pitchFamily="34" charset="-120"/>
              </a:rPr>
              <a:t>expiresAt</a:t>
            </a:r>
            <a:r>
              <a:rPr lang="en-US" sz="1500" dirty="0">
                <a:solidFill>
                  <a:srgbClr val="B8C9C2"/>
                </a:solidFill>
                <a:latin typeface="Space Grotesk" pitchFamily="34" charset="0"/>
                <a:ea typeface="Space Grotesk" pitchFamily="34" charset="-122"/>
                <a:cs typeface="Space Grotesk" pitchFamily="34" charset="-120"/>
              </a:rPr>
              <a:t>. Atlas deletes it on time. 0 lines of delete code.</a:t>
            </a:r>
            <a:endParaRPr lang="en-US" sz="1500" dirty="0"/>
          </a:p>
        </p:txBody>
      </p:sp>
      <p:sp>
        <p:nvSpPr>
          <p:cNvPr id="7" name="Shape 5"/>
          <p:cNvSpPr/>
          <p:nvPr/>
        </p:nvSpPr>
        <p:spPr>
          <a:xfrm>
            <a:off x="6188055" y="3135055"/>
            <a:ext cx="5187990" cy="1353820"/>
          </a:xfrm>
          <a:prstGeom prst="roundRect">
            <a:avLst>
              <a:gd name="adj" fmla="val 9146"/>
            </a:avLst>
          </a:prstGeom>
          <a:solidFill>
            <a:srgbClr val="12261F"/>
          </a:solidFill>
          <a:ln w="6350">
            <a:solidFill>
              <a:srgbClr val="1F3A31"/>
            </a:solidFill>
            <a:prstDash val="solid"/>
          </a:ln>
        </p:spPr>
      </p:sp>
      <p:sp>
        <p:nvSpPr>
          <p:cNvPr id="8" name="Text 6"/>
          <p:cNvSpPr/>
          <p:nvPr/>
        </p:nvSpPr>
        <p:spPr>
          <a:xfrm>
            <a:off x="6442651" y="3364291"/>
            <a:ext cx="48191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ED64"/>
                </a:solidFill>
                <a:latin typeface="Space Grotesk" pitchFamily="34" charset="0"/>
                <a:ea typeface="Space Grotesk" pitchFamily="34" charset="-122"/>
                <a:cs typeface="Space Grotesk" pitchFamily="34" charset="-120"/>
              </a:rPr>
              <a:t>Change streams</a:t>
            </a:r>
            <a:endParaRPr lang="en-US" sz="2000" dirty="0"/>
          </a:p>
        </p:txBody>
      </p:sp>
      <p:sp>
        <p:nvSpPr>
          <p:cNvPr id="9" name="Text 7"/>
          <p:cNvSpPr/>
          <p:nvPr/>
        </p:nvSpPr>
        <p:spPr>
          <a:xfrm>
            <a:off x="6442651" y="3745291"/>
            <a:ext cx="481916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8C9C2"/>
                </a:solidFill>
                <a:latin typeface="Space Grotesk" pitchFamily="34" charset="0"/>
                <a:ea typeface="Space Grotesk" pitchFamily="34" charset="-122"/>
                <a:cs typeface="Space Grotesk" pitchFamily="34" charset="-120"/>
              </a:rPr>
              <a:t>New messages and files appear on every phone instantly. 1 stream serves every workspace.</a:t>
            </a:r>
            <a:endParaRPr lang="en-US" sz="1500" dirty="0"/>
          </a:p>
        </p:txBody>
      </p:sp>
      <p:sp>
        <p:nvSpPr>
          <p:cNvPr id="10" name="Shape 8"/>
          <p:cNvSpPr/>
          <p:nvPr/>
        </p:nvSpPr>
        <p:spPr>
          <a:xfrm>
            <a:off x="815955" y="4672986"/>
            <a:ext cx="5187990" cy="1369060"/>
          </a:xfrm>
          <a:prstGeom prst="roundRect">
            <a:avLst>
              <a:gd name="adj" fmla="val 9045"/>
            </a:avLst>
          </a:prstGeom>
          <a:solidFill>
            <a:srgbClr val="12261F"/>
          </a:solidFill>
          <a:ln w="6350">
            <a:solidFill>
              <a:srgbClr val="1F3A31"/>
            </a:solidFill>
            <a:prstDash val="solid"/>
          </a:ln>
        </p:spPr>
      </p:sp>
      <p:sp>
        <p:nvSpPr>
          <p:cNvPr id="11" name="Text 9"/>
          <p:cNvSpPr/>
          <p:nvPr/>
        </p:nvSpPr>
        <p:spPr>
          <a:xfrm>
            <a:off x="1070551" y="4902222"/>
            <a:ext cx="48191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ED64"/>
                </a:solidFill>
                <a:latin typeface="Space Grotesk" pitchFamily="34" charset="0"/>
                <a:ea typeface="Space Grotesk" pitchFamily="34" charset="-122"/>
                <a:cs typeface="Space Grotesk" pitchFamily="34" charset="-120"/>
              </a:rPr>
              <a:t>Search by meaning</a:t>
            </a:r>
            <a:endParaRPr lang="en-US" sz="2000" dirty="0"/>
          </a:p>
        </p:txBody>
      </p:sp>
      <p:sp>
        <p:nvSpPr>
          <p:cNvPr id="12" name="Text 10"/>
          <p:cNvSpPr/>
          <p:nvPr/>
        </p:nvSpPr>
        <p:spPr>
          <a:xfrm>
            <a:off x="1070551" y="5283222"/>
            <a:ext cx="481916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8C9C2"/>
                </a:solidFill>
                <a:latin typeface="Space Grotesk" pitchFamily="34" charset="0"/>
                <a:ea typeface="Space Grotesk" pitchFamily="34" charset="-122"/>
                <a:cs typeface="Space Grotesk" pitchFamily="34" charset="-120"/>
              </a:rPr>
              <a:t>“wifi pw” finds “network password”. Vector and keyword search fused in one query.</a:t>
            </a:r>
            <a:endParaRPr lang="en-US" sz="1500" dirty="0"/>
          </a:p>
        </p:txBody>
      </p:sp>
      <p:sp>
        <p:nvSpPr>
          <p:cNvPr id="13" name="Shape 11"/>
          <p:cNvSpPr/>
          <p:nvPr/>
        </p:nvSpPr>
        <p:spPr>
          <a:xfrm>
            <a:off x="6191230" y="4676161"/>
            <a:ext cx="5181640" cy="1362710"/>
          </a:xfrm>
          <a:prstGeom prst="roundRect">
            <a:avLst>
              <a:gd name="adj" fmla="val 8854"/>
            </a:avLst>
          </a:prstGeom>
          <a:solidFill>
            <a:srgbClr val="12261F"/>
          </a:solidFill>
          <a:ln w="12700">
            <a:solidFill>
              <a:srgbClr val="FFB547"/>
            </a:solidFill>
            <a:prstDash val="solid"/>
          </a:ln>
        </p:spPr>
      </p:sp>
      <p:sp>
        <p:nvSpPr>
          <p:cNvPr id="14" name="Text 12"/>
          <p:cNvSpPr/>
          <p:nvPr/>
        </p:nvSpPr>
        <p:spPr>
          <a:xfrm>
            <a:off x="6450271" y="4909840"/>
            <a:ext cx="480346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B547"/>
                </a:solidFill>
                <a:latin typeface="Space Grotesk" pitchFamily="34" charset="0"/>
                <a:ea typeface="Space Grotesk" pitchFamily="34" charset="-122"/>
                <a:cs typeface="Space Grotesk" pitchFamily="34" charset="-120"/>
              </a:rPr>
              <a:t>Vectors expire too</a:t>
            </a:r>
            <a:endParaRPr lang="en-US" sz="2000" dirty="0"/>
          </a:p>
        </p:txBody>
      </p:sp>
      <p:sp>
        <p:nvSpPr>
          <p:cNvPr id="15" name="Text 13"/>
          <p:cNvSpPr/>
          <p:nvPr/>
        </p:nvSpPr>
        <p:spPr>
          <a:xfrm>
            <a:off x="6450271" y="5290840"/>
            <a:ext cx="480346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8C9C2"/>
                </a:solidFill>
                <a:latin typeface="Space Grotesk" pitchFamily="34" charset="0"/>
                <a:ea typeface="Space Grotesk" pitchFamily="34" charset="-122"/>
                <a:cs typeface="Space Grotesk" pitchFamily="34" charset="-120"/>
              </a:rPr>
              <a:t>Embeddings live with their documents. When the workspace goes, nothing is left to answer.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780" y="812781"/>
            <a:ext cx="10883434" cy="25650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00684A"/>
                </a:solidFill>
                <a:latin typeface="JetBrains Mono" pitchFamily="49" charset="0"/>
                <a:ea typeface="JetBrains Mono" pitchFamily="49" charset="-122"/>
                <a:cs typeface="JetBrains Mono" pitchFamily="49" charset="-120"/>
              </a:rPr>
              <a:t>THE SAME PRODUCT WITHOUT MONGODB</a:t>
            </a:r>
            <a:endParaRPr lang="en-US" sz="1300" dirty="0"/>
          </a:p>
        </p:txBody>
      </p:sp>
      <p:sp>
        <p:nvSpPr>
          <p:cNvPr id="3" name="Text 1"/>
          <p:cNvSpPr/>
          <p:nvPr>
            <p:ph type="title"/>
          </p:nvPr>
        </p:nvSpPr>
        <p:spPr>
          <a:xfrm>
            <a:off x="812780" y="1170862"/>
            <a:ext cx="10883434" cy="47242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B1A16"/>
                </a:solidFill>
                <a:latin typeface="Space Grotesk" pitchFamily="34" charset="0"/>
                <a:ea typeface="Space Grotesk" pitchFamily="34" charset="-122"/>
                <a:cs typeface="Space Grotesk" pitchFamily="34" charset="-120"/>
              </a:rPr>
              <a:t>5 services. 5 ways to half-delete something.</a:t>
            </a:r>
            <a:endParaRPr lang="en-US" sz="3200" dirty="0"/>
          </a:p>
        </p:txBody>
      </p:sp>
      <p:sp>
        <p:nvSpPr>
          <p:cNvPr id="4" name="Shape 2"/>
          <p:cNvSpPr/>
          <p:nvPr/>
        </p:nvSpPr>
        <p:spPr>
          <a:xfrm>
            <a:off x="815955" y="2564867"/>
            <a:ext cx="1984970" cy="1128851"/>
          </a:xfrm>
          <a:prstGeom prst="roundRect">
            <a:avLst>
              <a:gd name="adj" fmla="val 9844"/>
            </a:avLst>
          </a:prstGeom>
          <a:solidFill>
            <a:srgbClr val="FBFAF6"/>
          </a:solidFill>
          <a:ln w="6350">
            <a:solidFill>
              <a:srgbClr val="DCD8CC"/>
            </a:solidFill>
            <a:prstDash val="solid"/>
          </a:ln>
        </p:spPr>
      </p:sp>
      <p:sp>
        <p:nvSpPr>
          <p:cNvPr id="5" name="Text 3"/>
          <p:cNvSpPr/>
          <p:nvPr/>
        </p:nvSpPr>
        <p:spPr>
          <a:xfrm>
            <a:off x="994351" y="2743262"/>
            <a:ext cx="16789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A16"/>
                </a:solidFill>
                <a:latin typeface="Space Grotesk" pitchFamily="34" charset="0"/>
                <a:ea typeface="Space Grotesk" pitchFamily="34" charset="-122"/>
                <a:cs typeface="Space Grotesk" pitchFamily="34" charset="-120"/>
              </a:rPr>
              <a:t>Postgres</a:t>
            </a:r>
            <a:endParaRPr lang="en-US" sz="1600" dirty="0"/>
          </a:p>
        </p:txBody>
      </p:sp>
      <p:sp>
        <p:nvSpPr>
          <p:cNvPr id="6" name="Text 4"/>
          <p:cNvSpPr/>
          <p:nvPr/>
        </p:nvSpPr>
        <p:spPr>
          <a:xfrm>
            <a:off x="994351" y="3037821"/>
            <a:ext cx="16789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4"/>
                </a:solidFill>
                <a:latin typeface="Space Grotesk" pitchFamily="34" charset="0"/>
                <a:ea typeface="Space Grotesk" pitchFamily="34" charset="-122"/>
                <a:cs typeface="Space Grotesk" pitchFamily="34" charset="-120"/>
              </a:rPr>
              <a:t>chat, members</a:t>
            </a:r>
            <a:endParaRPr lang="en-US" sz="1200" dirty="0"/>
          </a:p>
        </p:txBody>
      </p:sp>
      <p:sp>
        <p:nvSpPr>
          <p:cNvPr id="7" name="Text 5"/>
          <p:cNvSpPr/>
          <p:nvPr/>
        </p:nvSpPr>
        <p:spPr>
          <a:xfrm>
            <a:off x="994351" y="3301963"/>
            <a:ext cx="16789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261E"/>
                </a:solidFill>
                <a:latin typeface="Space Grotesk" pitchFamily="34" charset="0"/>
                <a:ea typeface="Space Grotesk" pitchFamily="34" charset="-122"/>
                <a:cs typeface="Space Grotesk" pitchFamily="34" charset="-120"/>
              </a:rPr>
              <a:t>cron + cascades</a:t>
            </a:r>
            <a:endParaRPr lang="en-US" sz="1200" dirty="0"/>
          </a:p>
        </p:txBody>
      </p:sp>
      <p:sp>
        <p:nvSpPr>
          <p:cNvPr id="8" name="Shape 6"/>
          <p:cNvSpPr/>
          <p:nvPr/>
        </p:nvSpPr>
        <p:spPr>
          <a:xfrm>
            <a:off x="2959676" y="2564867"/>
            <a:ext cx="1985030" cy="1128851"/>
          </a:xfrm>
          <a:prstGeom prst="roundRect">
            <a:avLst>
              <a:gd name="adj" fmla="val 9844"/>
            </a:avLst>
          </a:prstGeom>
          <a:solidFill>
            <a:srgbClr val="FBFAF6"/>
          </a:solidFill>
          <a:ln w="6350">
            <a:solidFill>
              <a:srgbClr val="DCD8CC"/>
            </a:solidFill>
            <a:prstDash val="solid"/>
          </a:ln>
        </p:spPr>
      </p:sp>
      <p:sp>
        <p:nvSpPr>
          <p:cNvPr id="9" name="Text 7"/>
          <p:cNvSpPr/>
          <p:nvPr/>
        </p:nvSpPr>
        <p:spPr>
          <a:xfrm>
            <a:off x="3138071" y="2743262"/>
            <a:ext cx="167903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A16"/>
                </a:solidFill>
                <a:latin typeface="Space Grotesk" pitchFamily="34" charset="0"/>
                <a:ea typeface="Space Grotesk" pitchFamily="34" charset="-122"/>
                <a:cs typeface="Space Grotesk" pitchFamily="34" charset="-120"/>
              </a:rPr>
              <a:t>S3</a:t>
            </a:r>
            <a:endParaRPr lang="en-US" sz="1600" dirty="0"/>
          </a:p>
        </p:txBody>
      </p:sp>
      <p:sp>
        <p:nvSpPr>
          <p:cNvPr id="10" name="Text 8"/>
          <p:cNvSpPr/>
          <p:nvPr/>
        </p:nvSpPr>
        <p:spPr>
          <a:xfrm>
            <a:off x="3138071" y="3037821"/>
            <a:ext cx="16790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4"/>
                </a:solidFill>
                <a:latin typeface="Space Grotesk" pitchFamily="34" charset="0"/>
                <a:ea typeface="Space Grotesk" pitchFamily="34" charset="-122"/>
                <a:cs typeface="Space Grotesk" pitchFamily="34" charset="-120"/>
              </a:rPr>
              <a:t>files</a:t>
            </a:r>
            <a:endParaRPr lang="en-US" sz="1200" dirty="0"/>
          </a:p>
        </p:txBody>
      </p:sp>
      <p:sp>
        <p:nvSpPr>
          <p:cNvPr id="11" name="Text 9"/>
          <p:cNvSpPr/>
          <p:nvPr/>
        </p:nvSpPr>
        <p:spPr>
          <a:xfrm>
            <a:off x="3138071" y="3301963"/>
            <a:ext cx="16790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261E"/>
                </a:solidFill>
                <a:latin typeface="Space Grotesk" pitchFamily="34" charset="0"/>
                <a:ea typeface="Space Grotesk" pitchFamily="34" charset="-122"/>
                <a:cs typeface="Space Grotesk" pitchFamily="34" charset="-120"/>
              </a:rPr>
              <a:t>lifecycle rules</a:t>
            </a:r>
            <a:endParaRPr lang="en-US" sz="1200" dirty="0"/>
          </a:p>
        </p:txBody>
      </p:sp>
      <p:sp>
        <p:nvSpPr>
          <p:cNvPr id="12" name="Shape 10"/>
          <p:cNvSpPr/>
          <p:nvPr/>
        </p:nvSpPr>
        <p:spPr>
          <a:xfrm>
            <a:off x="5103456" y="2564867"/>
            <a:ext cx="1985030" cy="1128851"/>
          </a:xfrm>
          <a:prstGeom prst="roundRect">
            <a:avLst>
              <a:gd name="adj" fmla="val 9844"/>
            </a:avLst>
          </a:prstGeom>
          <a:solidFill>
            <a:srgbClr val="FBFAF6"/>
          </a:solidFill>
          <a:ln w="6350">
            <a:solidFill>
              <a:srgbClr val="DCD8CC"/>
            </a:solidFill>
            <a:prstDash val="solid"/>
          </a:ln>
        </p:spPr>
      </p:sp>
      <p:sp>
        <p:nvSpPr>
          <p:cNvPr id="13" name="Text 11"/>
          <p:cNvSpPr/>
          <p:nvPr/>
        </p:nvSpPr>
        <p:spPr>
          <a:xfrm>
            <a:off x="5281851" y="2743262"/>
            <a:ext cx="167903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A16"/>
                </a:solidFill>
                <a:latin typeface="Space Grotesk" pitchFamily="34" charset="0"/>
                <a:ea typeface="Space Grotesk" pitchFamily="34" charset="-122"/>
                <a:cs typeface="Space Grotesk" pitchFamily="34" charset="-120"/>
              </a:rPr>
              <a:t>Elastic</a:t>
            </a:r>
            <a:endParaRPr lang="en-US" sz="1600" dirty="0"/>
          </a:p>
        </p:txBody>
      </p:sp>
      <p:sp>
        <p:nvSpPr>
          <p:cNvPr id="14" name="Text 12"/>
          <p:cNvSpPr/>
          <p:nvPr/>
        </p:nvSpPr>
        <p:spPr>
          <a:xfrm>
            <a:off x="5281851" y="3037821"/>
            <a:ext cx="16790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4"/>
                </a:solidFill>
                <a:latin typeface="Space Grotesk" pitchFamily="34" charset="0"/>
                <a:ea typeface="Space Grotesk" pitchFamily="34" charset="-122"/>
                <a:cs typeface="Space Grotesk" pitchFamily="34" charset="-120"/>
              </a:rPr>
              <a:t>keyword search</a:t>
            </a:r>
            <a:endParaRPr lang="en-US" sz="1200" dirty="0"/>
          </a:p>
        </p:txBody>
      </p:sp>
      <p:sp>
        <p:nvSpPr>
          <p:cNvPr id="15" name="Text 13"/>
          <p:cNvSpPr/>
          <p:nvPr/>
        </p:nvSpPr>
        <p:spPr>
          <a:xfrm>
            <a:off x="5281851" y="3301963"/>
            <a:ext cx="16790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261E"/>
                </a:solidFill>
                <a:latin typeface="Space Grotesk" pitchFamily="34" charset="0"/>
                <a:ea typeface="Space Grotesk" pitchFamily="34" charset="-122"/>
                <a:cs typeface="Space Grotesk" pitchFamily="34" charset="-120"/>
              </a:rPr>
              <a:t>purge job</a:t>
            </a:r>
            <a:endParaRPr lang="en-US" sz="1200" dirty="0"/>
          </a:p>
        </p:txBody>
      </p:sp>
      <p:sp>
        <p:nvSpPr>
          <p:cNvPr id="16" name="Shape 14"/>
          <p:cNvSpPr/>
          <p:nvPr/>
        </p:nvSpPr>
        <p:spPr>
          <a:xfrm>
            <a:off x="7247235" y="2564867"/>
            <a:ext cx="1985030" cy="1128851"/>
          </a:xfrm>
          <a:prstGeom prst="roundRect">
            <a:avLst>
              <a:gd name="adj" fmla="val 9844"/>
            </a:avLst>
          </a:prstGeom>
          <a:solidFill>
            <a:srgbClr val="FBFAF6"/>
          </a:solidFill>
          <a:ln w="6350">
            <a:solidFill>
              <a:srgbClr val="DCD8CC"/>
            </a:solidFill>
            <a:prstDash val="solid"/>
          </a:ln>
        </p:spPr>
      </p:sp>
      <p:sp>
        <p:nvSpPr>
          <p:cNvPr id="17" name="Text 15"/>
          <p:cNvSpPr/>
          <p:nvPr/>
        </p:nvSpPr>
        <p:spPr>
          <a:xfrm>
            <a:off x="7425630" y="2743262"/>
            <a:ext cx="167903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A16"/>
                </a:solidFill>
                <a:latin typeface="Space Grotesk" pitchFamily="34" charset="0"/>
                <a:ea typeface="Space Grotesk" pitchFamily="34" charset="-122"/>
                <a:cs typeface="Space Grotesk" pitchFamily="34" charset="-120"/>
              </a:rPr>
              <a:t>Pinecone</a:t>
            </a:r>
            <a:endParaRPr lang="en-US" sz="1600" dirty="0"/>
          </a:p>
        </p:txBody>
      </p:sp>
      <p:sp>
        <p:nvSpPr>
          <p:cNvPr id="18" name="Text 16"/>
          <p:cNvSpPr/>
          <p:nvPr/>
        </p:nvSpPr>
        <p:spPr>
          <a:xfrm>
            <a:off x="7425630" y="3037821"/>
            <a:ext cx="16790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4"/>
                </a:solidFill>
                <a:latin typeface="Space Grotesk" pitchFamily="34" charset="0"/>
                <a:ea typeface="Space Grotesk" pitchFamily="34" charset="-122"/>
                <a:cs typeface="Space Grotesk" pitchFamily="34" charset="-120"/>
              </a:rPr>
              <a:t>vectors</a:t>
            </a:r>
            <a:endParaRPr lang="en-US" sz="1200" dirty="0"/>
          </a:p>
        </p:txBody>
      </p:sp>
      <p:sp>
        <p:nvSpPr>
          <p:cNvPr id="19" name="Text 17"/>
          <p:cNvSpPr/>
          <p:nvPr/>
        </p:nvSpPr>
        <p:spPr>
          <a:xfrm>
            <a:off x="7425630" y="3301963"/>
            <a:ext cx="16790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261E"/>
                </a:solidFill>
                <a:latin typeface="Space Grotesk" pitchFamily="34" charset="0"/>
                <a:ea typeface="Space Grotesk" pitchFamily="34" charset="-122"/>
                <a:cs typeface="Space Grotesk" pitchFamily="34" charset="-120"/>
              </a:rPr>
              <a:t>orphaned vectors</a:t>
            </a:r>
            <a:endParaRPr lang="en-US" sz="1200" dirty="0"/>
          </a:p>
        </p:txBody>
      </p:sp>
      <p:sp>
        <p:nvSpPr>
          <p:cNvPr id="20" name="Shape 18"/>
          <p:cNvSpPr/>
          <p:nvPr/>
        </p:nvSpPr>
        <p:spPr>
          <a:xfrm>
            <a:off x="9391015" y="2564867"/>
            <a:ext cx="1985030" cy="1128851"/>
          </a:xfrm>
          <a:prstGeom prst="roundRect">
            <a:avLst>
              <a:gd name="adj" fmla="val 9844"/>
            </a:avLst>
          </a:prstGeom>
          <a:solidFill>
            <a:srgbClr val="FBFAF6"/>
          </a:solidFill>
          <a:ln w="6350">
            <a:solidFill>
              <a:srgbClr val="DCD8CC"/>
            </a:solidFill>
            <a:prstDash val="solid"/>
          </a:ln>
        </p:spPr>
      </p:sp>
      <p:sp>
        <p:nvSpPr>
          <p:cNvPr id="21" name="Text 19"/>
          <p:cNvSpPr/>
          <p:nvPr/>
        </p:nvSpPr>
        <p:spPr>
          <a:xfrm>
            <a:off x="9569410" y="2743262"/>
            <a:ext cx="167903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A16"/>
                </a:solidFill>
                <a:latin typeface="Space Grotesk" pitchFamily="34" charset="0"/>
                <a:ea typeface="Space Grotesk" pitchFamily="34" charset="-122"/>
                <a:cs typeface="Space Grotesk" pitchFamily="34" charset="-120"/>
              </a:rPr>
              <a:t>Redis</a:t>
            </a:r>
            <a:endParaRPr lang="en-US" sz="1600" dirty="0"/>
          </a:p>
        </p:txBody>
      </p:sp>
      <p:sp>
        <p:nvSpPr>
          <p:cNvPr id="22" name="Text 20"/>
          <p:cNvSpPr/>
          <p:nvPr/>
        </p:nvSpPr>
        <p:spPr>
          <a:xfrm>
            <a:off x="9569410" y="3037821"/>
            <a:ext cx="16790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4"/>
                </a:solidFill>
                <a:latin typeface="Space Grotesk" pitchFamily="34" charset="0"/>
                <a:ea typeface="Space Grotesk" pitchFamily="34" charset="-122"/>
                <a:cs typeface="Space Grotesk" pitchFamily="34" charset="-120"/>
              </a:rPr>
              <a:t>real-time</a:t>
            </a:r>
            <a:endParaRPr lang="en-US" sz="1200" dirty="0"/>
          </a:p>
        </p:txBody>
      </p:sp>
      <p:sp>
        <p:nvSpPr>
          <p:cNvPr id="23" name="Text 21"/>
          <p:cNvSpPr/>
          <p:nvPr/>
        </p:nvSpPr>
        <p:spPr>
          <a:xfrm>
            <a:off x="9569410" y="3301963"/>
            <a:ext cx="16790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261E"/>
                </a:solidFill>
                <a:latin typeface="Space Grotesk" pitchFamily="34" charset="0"/>
                <a:ea typeface="Space Grotesk" pitchFamily="34" charset="-122"/>
                <a:cs typeface="Space Grotesk" pitchFamily="34" charset="-120"/>
              </a:rPr>
              <a:t>one more service</a:t>
            </a:r>
            <a:endParaRPr lang="en-US" sz="1200" dirty="0"/>
          </a:p>
        </p:txBody>
      </p:sp>
      <p:sp>
        <p:nvSpPr>
          <p:cNvPr id="24" name="Shape 22"/>
          <p:cNvSpPr/>
          <p:nvPr/>
        </p:nvSpPr>
        <p:spPr>
          <a:xfrm>
            <a:off x="812780" y="4640700"/>
            <a:ext cx="10566440" cy="1404521"/>
          </a:xfrm>
          <a:prstGeom prst="roundRect">
            <a:avLst>
              <a:gd name="adj" fmla="val 10851"/>
            </a:avLst>
          </a:prstGeom>
          <a:solidFill>
            <a:srgbClr val="0B1A16"/>
          </a:solidFill>
          <a:ln/>
        </p:spPr>
      </p:sp>
      <p:sp>
        <p:nvSpPr>
          <p:cNvPr id="25" name="Text 23"/>
          <p:cNvSpPr/>
          <p:nvPr/>
        </p:nvSpPr>
        <p:spPr>
          <a:xfrm>
            <a:off x="1117580" y="4894662"/>
            <a:ext cx="327899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0ED64"/>
                </a:solidFill>
                <a:latin typeface="JetBrains Mono" pitchFamily="49" charset="0"/>
                <a:ea typeface="JetBrains Mono" pitchFamily="49" charset="-122"/>
                <a:cs typeface="JetBrains Mono" pitchFamily="49" charset="-120"/>
              </a:rPr>
              <a:t>1</a:t>
            </a:r>
            <a:endParaRPr lang="en-US" sz="4800" dirty="0"/>
          </a:p>
        </p:txBody>
      </p:sp>
      <p:sp>
        <p:nvSpPr>
          <p:cNvPr id="26" name="Text 24"/>
          <p:cNvSpPr/>
          <p:nvPr/>
        </p:nvSpPr>
        <p:spPr>
          <a:xfrm>
            <a:off x="1117580" y="5542362"/>
            <a:ext cx="3278998" cy="2743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9C2"/>
                </a:solidFill>
                <a:latin typeface="Space Grotesk" pitchFamily="34" charset="0"/>
                <a:ea typeface="Space Grotesk" pitchFamily="34" charset="-122"/>
                <a:cs typeface="Space Grotesk" pitchFamily="34" charset="-120"/>
              </a:rPr>
              <a:t>Atlas cluster for everything</a:t>
            </a:r>
            <a:endParaRPr lang="en-US" sz="1400" dirty="0"/>
          </a:p>
        </p:txBody>
      </p:sp>
      <p:sp>
        <p:nvSpPr>
          <p:cNvPr id="27" name="Text 25"/>
          <p:cNvSpPr/>
          <p:nvPr/>
        </p:nvSpPr>
        <p:spPr>
          <a:xfrm>
            <a:off x="4504254" y="4894662"/>
            <a:ext cx="327899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0ED64"/>
                </a:solidFill>
                <a:latin typeface="JetBrains Mono" pitchFamily="49" charset="0"/>
                <a:ea typeface="JetBrains Mono" pitchFamily="49" charset="-122"/>
                <a:cs typeface="JetBrains Mono" pitchFamily="49" charset="-120"/>
              </a:rPr>
              <a:t>0</a:t>
            </a:r>
            <a:endParaRPr lang="en-US" sz="4800" dirty="0"/>
          </a:p>
        </p:txBody>
      </p:sp>
      <p:sp>
        <p:nvSpPr>
          <p:cNvPr id="28" name="Text 26"/>
          <p:cNvSpPr/>
          <p:nvPr/>
        </p:nvSpPr>
        <p:spPr>
          <a:xfrm>
            <a:off x="4504254" y="5542362"/>
            <a:ext cx="3278998" cy="2743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9C2"/>
                </a:solidFill>
                <a:latin typeface="Space Grotesk" pitchFamily="34" charset="0"/>
                <a:ea typeface="Space Grotesk" pitchFamily="34" charset="-122"/>
                <a:cs typeface="Space Grotesk" pitchFamily="34" charset="-120"/>
              </a:rPr>
              <a:t>lines of delete code</a:t>
            </a:r>
            <a:endParaRPr lang="en-US" sz="1400" dirty="0"/>
          </a:p>
        </p:txBody>
      </p:sp>
      <p:sp>
        <p:nvSpPr>
          <p:cNvPr id="29" name="Text 27"/>
          <p:cNvSpPr/>
          <p:nvPr/>
        </p:nvSpPr>
        <p:spPr>
          <a:xfrm>
            <a:off x="7890927" y="4894662"/>
            <a:ext cx="327899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547"/>
                </a:solidFill>
                <a:latin typeface="JetBrains Mono" pitchFamily="49" charset="0"/>
                <a:ea typeface="JetBrains Mono" pitchFamily="49" charset="-122"/>
                <a:cs typeface="JetBrains Mono" pitchFamily="49" charset="-120"/>
              </a:rPr>
              <a:t>$0</a:t>
            </a:r>
            <a:endParaRPr lang="en-US" sz="4800" dirty="0"/>
          </a:p>
        </p:txBody>
      </p:sp>
      <p:sp>
        <p:nvSpPr>
          <p:cNvPr id="30" name="Text 28"/>
          <p:cNvSpPr/>
          <p:nvPr/>
        </p:nvSpPr>
        <p:spPr>
          <a:xfrm>
            <a:off x="7890927" y="5542362"/>
            <a:ext cx="3278998" cy="2743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9C2"/>
                </a:solidFill>
                <a:latin typeface="Space Grotesk" pitchFamily="34" charset="0"/>
                <a:ea typeface="Space Grotesk" pitchFamily="34" charset="-122"/>
                <a:cs typeface="Space Grotesk" pitchFamily="34" charset="-120"/>
              </a:rPr>
              <a:t>to run on the free tier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780" y="812778"/>
            <a:ext cx="10883434" cy="25650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00684A"/>
                </a:solidFill>
                <a:latin typeface="JetBrains Mono" pitchFamily="49" charset="0"/>
                <a:ea typeface="JetBrains Mono" pitchFamily="49" charset="-122"/>
                <a:cs typeface="JetBrains Mono" pitchFamily="49" charset="-120"/>
              </a:rPr>
              <a:t>WHAT COMES NEXT</a:t>
            </a:r>
            <a:endParaRPr lang="en-US" sz="1300" dirty="0"/>
          </a:p>
        </p:txBody>
      </p:sp>
      <p:sp>
        <p:nvSpPr>
          <p:cNvPr id="3" name="Text 1"/>
          <p:cNvSpPr/>
          <p:nvPr>
            <p:ph type="title"/>
          </p:nvPr>
        </p:nvSpPr>
        <p:spPr>
          <a:xfrm>
            <a:off x="812780" y="1170859"/>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B1A16"/>
                </a:solidFill>
                <a:latin typeface="Space Grotesk" pitchFamily="34" charset="0"/>
                <a:ea typeface="Space Grotesk" pitchFamily="34" charset="-122"/>
                <a:cs typeface="Space Grotesk" pitchFamily="34" charset="-120"/>
              </a:rPr>
              <a:t>Every step keeps one unit: workspaceId.</a:t>
            </a:r>
            <a:endParaRPr lang="en-US" sz="3600" dirty="0"/>
          </a:p>
        </p:txBody>
      </p:sp>
      <p:sp>
        <p:nvSpPr>
          <p:cNvPr id="4" name="Text 2"/>
          <p:cNvSpPr/>
          <p:nvPr/>
        </p:nvSpPr>
        <p:spPr>
          <a:xfrm>
            <a:off x="812780" y="2154374"/>
            <a:ext cx="528474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684A"/>
                </a:solidFill>
                <a:latin typeface="Space Grotesk" pitchFamily="34" charset="0"/>
                <a:ea typeface="Space Grotesk" pitchFamily="34" charset="-122"/>
                <a:cs typeface="Space Grotesk" pitchFamily="34" charset="-120"/>
              </a:rPr>
              <a:t>Integrations</a:t>
            </a:r>
            <a:endParaRPr lang="en-US" sz="1800" dirty="0"/>
          </a:p>
        </p:txBody>
      </p:sp>
      <p:sp>
        <p:nvSpPr>
          <p:cNvPr id="5" name="Shape 3"/>
          <p:cNvSpPr/>
          <p:nvPr/>
        </p:nvSpPr>
        <p:spPr>
          <a:xfrm>
            <a:off x="815955" y="2584270"/>
            <a:ext cx="5124470" cy="1123791"/>
          </a:xfrm>
          <a:prstGeom prst="roundRect">
            <a:avLst>
              <a:gd name="adj" fmla="val 8758"/>
            </a:avLst>
          </a:prstGeom>
          <a:solidFill>
            <a:srgbClr val="FBFAF6"/>
          </a:solidFill>
          <a:ln w="6350">
            <a:solidFill>
              <a:srgbClr val="DCD8CC"/>
            </a:solidFill>
            <a:prstDash val="solid"/>
          </a:ln>
        </p:spPr>
      </p:sp>
      <p:sp>
        <p:nvSpPr>
          <p:cNvPr id="6" name="Text 4"/>
          <p:cNvSpPr/>
          <p:nvPr/>
        </p:nvSpPr>
        <p:spPr>
          <a:xfrm>
            <a:off x="1019770" y="2762665"/>
            <a:ext cx="485834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A16"/>
                </a:solidFill>
                <a:latin typeface="Space Grotesk" pitchFamily="34" charset="0"/>
                <a:ea typeface="Space Grotesk" pitchFamily="34" charset="-122"/>
                <a:cs typeface="Space Grotesk" pitchFamily="34" charset="-120"/>
              </a:rPr>
              <a:t>Ask the workspace</a:t>
            </a:r>
            <a:endParaRPr lang="en-US" sz="1500" dirty="0"/>
          </a:p>
        </p:txBody>
      </p:sp>
      <p:sp>
        <p:nvSpPr>
          <p:cNvPr id="7" name="Text 5"/>
          <p:cNvSpPr/>
          <p:nvPr/>
        </p:nvSpPr>
        <p:spPr>
          <a:xfrm>
            <a:off x="1019770" y="3067465"/>
            <a:ext cx="4858345"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4"/>
                </a:solidFill>
                <a:latin typeface="Space Grotesk" pitchFamily="34" charset="0"/>
                <a:ea typeface="Space Grotesk" pitchFamily="34" charset="-122"/>
                <a:cs typeface="Space Grotesk" pitchFamily="34" charset="-120"/>
              </a:rPr>
              <a:t>Answers from chat and files, with citations. The embeddings already exist.</a:t>
            </a:r>
            <a:endParaRPr lang="en-US" sz="1300" dirty="0"/>
          </a:p>
        </p:txBody>
      </p:sp>
      <p:sp>
        <p:nvSpPr>
          <p:cNvPr id="8" name="Shape 6"/>
          <p:cNvSpPr/>
          <p:nvPr/>
        </p:nvSpPr>
        <p:spPr>
          <a:xfrm>
            <a:off x="815955" y="3866812"/>
            <a:ext cx="5124470" cy="1123791"/>
          </a:xfrm>
          <a:prstGeom prst="roundRect">
            <a:avLst>
              <a:gd name="adj" fmla="val 8758"/>
            </a:avLst>
          </a:prstGeom>
          <a:solidFill>
            <a:srgbClr val="FBFAF6"/>
          </a:solidFill>
          <a:ln w="6350">
            <a:solidFill>
              <a:srgbClr val="DCD8CC"/>
            </a:solidFill>
            <a:prstDash val="solid"/>
          </a:ln>
        </p:spPr>
      </p:sp>
      <p:sp>
        <p:nvSpPr>
          <p:cNvPr id="9" name="Text 7"/>
          <p:cNvSpPr/>
          <p:nvPr/>
        </p:nvSpPr>
        <p:spPr>
          <a:xfrm>
            <a:off x="1019770" y="4045207"/>
            <a:ext cx="485834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A16"/>
                </a:solidFill>
                <a:latin typeface="Space Grotesk" pitchFamily="34" charset="0"/>
                <a:ea typeface="Space Grotesk" pitchFamily="34" charset="-122"/>
                <a:cs typeface="Space Grotesk" pitchFamily="34" charset="-120"/>
              </a:rPr>
              <a:t>Git-aware workspaces</a:t>
            </a:r>
            <a:endParaRPr lang="en-US" sz="1500" dirty="0"/>
          </a:p>
        </p:txBody>
      </p:sp>
      <p:sp>
        <p:nvSpPr>
          <p:cNvPr id="10" name="Text 8"/>
          <p:cNvSpPr/>
          <p:nvPr/>
        </p:nvSpPr>
        <p:spPr>
          <a:xfrm>
            <a:off x="1019770" y="4350007"/>
            <a:ext cx="4858345"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4"/>
                </a:solidFill>
                <a:latin typeface="Space Grotesk" pitchFamily="34" charset="0"/>
                <a:ea typeface="Space Grotesk" pitchFamily="34" charset="-122"/>
                <a:cs typeface="Space Grotesk" pitchFamily="34" charset="-120"/>
              </a:rPr>
              <a:t>Commits and CI results in the chat; @commit works like @file.</a:t>
            </a:r>
            <a:endParaRPr lang="en-US" sz="1300" dirty="0"/>
          </a:p>
        </p:txBody>
      </p:sp>
      <p:sp>
        <p:nvSpPr>
          <p:cNvPr id="11" name="Shape 9"/>
          <p:cNvSpPr/>
          <p:nvPr/>
        </p:nvSpPr>
        <p:spPr>
          <a:xfrm>
            <a:off x="815955" y="5149354"/>
            <a:ext cx="5124470" cy="892691"/>
          </a:xfrm>
          <a:prstGeom prst="roundRect">
            <a:avLst>
              <a:gd name="adj" fmla="val 11026"/>
            </a:avLst>
          </a:prstGeom>
          <a:solidFill>
            <a:srgbClr val="FBFAF6"/>
          </a:solidFill>
          <a:ln w="6350">
            <a:solidFill>
              <a:srgbClr val="DCD8CC"/>
            </a:solidFill>
            <a:prstDash val="solid"/>
          </a:ln>
        </p:spPr>
      </p:sp>
      <p:sp>
        <p:nvSpPr>
          <p:cNvPr id="12" name="Text 10"/>
          <p:cNvSpPr/>
          <p:nvPr/>
        </p:nvSpPr>
        <p:spPr>
          <a:xfrm>
            <a:off x="1019770" y="5327749"/>
            <a:ext cx="485834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A16"/>
                </a:solidFill>
                <a:latin typeface="Space Grotesk" pitchFamily="34" charset="0"/>
                <a:ea typeface="Space Grotesk" pitchFamily="34" charset="-122"/>
                <a:cs typeface="Space Grotesk" pitchFamily="34" charset="-120"/>
              </a:rPr>
              <a:t>Live co-editing</a:t>
            </a:r>
            <a:endParaRPr lang="en-US" sz="1500" dirty="0"/>
          </a:p>
        </p:txBody>
      </p:sp>
      <p:sp>
        <p:nvSpPr>
          <p:cNvPr id="13" name="Text 11"/>
          <p:cNvSpPr/>
          <p:nvPr/>
        </p:nvSpPr>
        <p:spPr>
          <a:xfrm>
            <a:off x="1019770" y="5632549"/>
            <a:ext cx="4858345"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4"/>
                </a:solidFill>
                <a:latin typeface="Space Grotesk" pitchFamily="34" charset="0"/>
                <a:ea typeface="Space Grotesk" pitchFamily="34" charset="-122"/>
                <a:cs typeface="Space Grotesk" pitchFamily="34" charset="-120"/>
              </a:rPr>
              <a:t>Change streams on file versions.</a:t>
            </a:r>
            <a:endParaRPr lang="en-US" sz="1300" dirty="0"/>
          </a:p>
        </p:txBody>
      </p:sp>
      <p:sp>
        <p:nvSpPr>
          <p:cNvPr id="14" name="Text 12"/>
          <p:cNvSpPr/>
          <p:nvPr/>
        </p:nvSpPr>
        <p:spPr>
          <a:xfrm>
            <a:off x="6248400" y="2154374"/>
            <a:ext cx="528474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684A"/>
                </a:solidFill>
                <a:latin typeface="Space Grotesk" pitchFamily="34" charset="0"/>
                <a:ea typeface="Space Grotesk" pitchFamily="34" charset="-122"/>
                <a:cs typeface="Space Grotesk" pitchFamily="34" charset="-120"/>
              </a:rPr>
              <a:t>Scale</a:t>
            </a:r>
            <a:endParaRPr lang="en-US" sz="1800" dirty="0"/>
          </a:p>
        </p:txBody>
      </p:sp>
      <p:sp>
        <p:nvSpPr>
          <p:cNvPr id="15" name="Shape 13"/>
          <p:cNvSpPr/>
          <p:nvPr/>
        </p:nvSpPr>
        <p:spPr>
          <a:xfrm>
            <a:off x="6251575" y="2584270"/>
            <a:ext cx="5124470" cy="892691"/>
          </a:xfrm>
          <a:prstGeom prst="roundRect">
            <a:avLst>
              <a:gd name="adj" fmla="val 11026"/>
            </a:avLst>
          </a:prstGeom>
          <a:solidFill>
            <a:srgbClr val="FBFAF6"/>
          </a:solidFill>
          <a:ln w="6350">
            <a:solidFill>
              <a:srgbClr val="DCD8CC"/>
            </a:solidFill>
            <a:prstDash val="solid"/>
          </a:ln>
        </p:spPr>
      </p:sp>
      <p:sp>
        <p:nvSpPr>
          <p:cNvPr id="16" name="Text 14"/>
          <p:cNvSpPr/>
          <p:nvPr/>
        </p:nvSpPr>
        <p:spPr>
          <a:xfrm>
            <a:off x="6455390" y="2762665"/>
            <a:ext cx="485834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A16"/>
                </a:solidFill>
                <a:latin typeface="Space Grotesk" pitchFamily="34" charset="0"/>
                <a:ea typeface="Space Grotesk" pitchFamily="34" charset="-122"/>
                <a:cs typeface="Space Grotesk" pitchFamily="34" charset="-120"/>
              </a:rPr>
              <a:t>Multi-week workspaces</a:t>
            </a:r>
            <a:endParaRPr lang="en-US" sz="1500" dirty="0"/>
          </a:p>
        </p:txBody>
      </p:sp>
      <p:sp>
        <p:nvSpPr>
          <p:cNvPr id="17" name="Text 15"/>
          <p:cNvSpPr/>
          <p:nvPr/>
        </p:nvSpPr>
        <p:spPr>
          <a:xfrm>
            <a:off x="6455390" y="3067465"/>
            <a:ext cx="4858345"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4"/>
                </a:solidFill>
                <a:latin typeface="Space Grotesk" pitchFamily="34" charset="0"/>
                <a:ea typeface="Space Grotesk" pitchFamily="34" charset="-122"/>
                <a:cs typeface="Space Grotesk" pitchFamily="34" charset="-120"/>
              </a:rPr>
              <a:t>Same TTL design, a different expiresAt. It's a number.</a:t>
            </a:r>
            <a:endParaRPr lang="en-US" sz="1300" dirty="0"/>
          </a:p>
        </p:txBody>
      </p:sp>
      <p:sp>
        <p:nvSpPr>
          <p:cNvPr id="18" name="Shape 16"/>
          <p:cNvSpPr/>
          <p:nvPr/>
        </p:nvSpPr>
        <p:spPr>
          <a:xfrm>
            <a:off x="6251575" y="3635710"/>
            <a:ext cx="5124470" cy="1123791"/>
          </a:xfrm>
          <a:prstGeom prst="roundRect">
            <a:avLst>
              <a:gd name="adj" fmla="val 8758"/>
            </a:avLst>
          </a:prstGeom>
          <a:solidFill>
            <a:srgbClr val="FBFAF6"/>
          </a:solidFill>
          <a:ln w="6350">
            <a:solidFill>
              <a:srgbClr val="DCD8CC"/>
            </a:solidFill>
            <a:prstDash val="solid"/>
          </a:ln>
        </p:spPr>
      </p:sp>
      <p:sp>
        <p:nvSpPr>
          <p:cNvPr id="19" name="Text 17"/>
          <p:cNvSpPr/>
          <p:nvPr/>
        </p:nvSpPr>
        <p:spPr>
          <a:xfrm>
            <a:off x="6455390" y="3814105"/>
            <a:ext cx="485834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A16"/>
                </a:solidFill>
                <a:latin typeface="Space Grotesk" pitchFamily="34" charset="0"/>
                <a:ea typeface="Space Grotesk" pitchFamily="34" charset="-122"/>
                <a:cs typeface="Space Grotesk" pitchFamily="34" charset="-120"/>
              </a:rPr>
              <a:t>Many servers, many workspaces</a:t>
            </a:r>
            <a:endParaRPr lang="en-US" sz="1500" dirty="0"/>
          </a:p>
        </p:txBody>
      </p:sp>
      <p:sp>
        <p:nvSpPr>
          <p:cNvPr id="20" name="Text 18"/>
          <p:cNvSpPr/>
          <p:nvPr/>
        </p:nvSpPr>
        <p:spPr>
          <a:xfrm>
            <a:off x="6455390" y="4118905"/>
            <a:ext cx="4858345"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4"/>
                </a:solidFill>
                <a:latin typeface="Space Grotesk" pitchFamily="34" charset="0"/>
                <a:ea typeface="Space Grotesk" pitchFamily="34" charset="-122"/>
                <a:cs typeface="Space Grotesk" pitchFamily="34" charset="-120"/>
              </a:rPr>
              <a:t>Socket.IO MongoDB adapter over change streams; shard on workspaceId.</a:t>
            </a:r>
            <a:endParaRPr lang="en-US" sz="1300" dirty="0"/>
          </a:p>
        </p:txBody>
      </p:sp>
      <p:sp>
        <p:nvSpPr>
          <p:cNvPr id="21" name="Shape 19"/>
          <p:cNvSpPr/>
          <p:nvPr/>
        </p:nvSpPr>
        <p:spPr>
          <a:xfrm>
            <a:off x="6251575" y="4918252"/>
            <a:ext cx="5124470" cy="892691"/>
          </a:xfrm>
          <a:prstGeom prst="roundRect">
            <a:avLst>
              <a:gd name="adj" fmla="val 11026"/>
            </a:avLst>
          </a:prstGeom>
          <a:solidFill>
            <a:srgbClr val="FBFAF6"/>
          </a:solidFill>
          <a:ln w="6350">
            <a:solidFill>
              <a:srgbClr val="DCD8CC"/>
            </a:solidFill>
            <a:prstDash val="solid"/>
          </a:ln>
        </p:spPr>
      </p:sp>
      <p:sp>
        <p:nvSpPr>
          <p:cNvPr id="22" name="Text 20"/>
          <p:cNvSpPr/>
          <p:nvPr/>
        </p:nvSpPr>
        <p:spPr>
          <a:xfrm>
            <a:off x="6455390" y="5096647"/>
            <a:ext cx="485834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A16"/>
                </a:solidFill>
                <a:latin typeface="Space Grotesk" pitchFamily="34" charset="0"/>
                <a:ea typeface="Space Grotesk" pitchFamily="34" charset="-122"/>
                <a:cs typeface="Space Grotesk" pitchFamily="34" charset="-120"/>
              </a:rPr>
              <a:t>Sensitive workspaces</a:t>
            </a:r>
            <a:endParaRPr lang="en-US" sz="1500" dirty="0"/>
          </a:p>
        </p:txBody>
      </p:sp>
      <p:sp>
        <p:nvSpPr>
          <p:cNvPr id="23" name="Text 21"/>
          <p:cNvSpPr/>
          <p:nvPr/>
        </p:nvSpPr>
        <p:spPr>
          <a:xfrm>
            <a:off x="6455390" y="5401447"/>
            <a:ext cx="4858345"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4"/>
                </a:solidFill>
                <a:latin typeface="Space Grotesk" pitchFamily="34" charset="0"/>
                <a:ea typeface="Space Grotesk" pitchFamily="34" charset="-122"/>
                <a:cs typeface="Space Grotesk" pitchFamily="34" charset="-120"/>
              </a:rPr>
              <a:t>Queryable Encryption for messages.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A16"/>
        </a:solidFill>
      </p:bgPr>
    </p:bg>
    <p:spTree>
      <p:nvGrpSpPr>
        <p:cNvPr id="1" name=""/>
        <p:cNvGrpSpPr/>
        <p:nvPr/>
      </p:nvGrpSpPr>
      <p:grpSpPr>
        <a:xfrm>
          <a:off x="0" y="0"/>
          <a:ext cx="0" cy="0"/>
          <a:chOff x="0" y="0"/>
          <a:chExt cx="0" cy="0"/>
        </a:xfrm>
      </p:grpSpPr>
      <p:sp>
        <p:nvSpPr>
          <p:cNvPr id="2" name="Text 0"/>
          <p:cNvSpPr/>
          <p:nvPr/>
        </p:nvSpPr>
        <p:spPr>
          <a:xfrm>
            <a:off x="5587960" y="1905000"/>
            <a:ext cx="5964936" cy="1422420"/>
          </a:xfrm>
          <a:prstGeom prst="rect">
            <a:avLst/>
          </a:prstGeom>
          <a:noFill/>
          <a:ln/>
        </p:spPr>
        <p:txBody>
          <a:bodyPr wrap="none" lIns="0" tIns="0" rIns="0" bIns="0" rtlCol="0" anchor="t">
            <a:normAutofit/>
          </a:bodyPr>
          <a:lstStyle/>
          <a:p>
            <a:pPr algn="l" indent="0" marL="0">
              <a:lnSpc>
                <a:spcPts val="11000"/>
              </a:lnSpc>
              <a:buNone/>
            </a:pPr>
            <a:r>
              <a:rPr lang="en-US" sz="11000" b="1" dirty="0">
                <a:solidFill>
                  <a:srgbClr val="00ED64">
                    <a:alpha val="7000"/>
                  </a:srgbClr>
                </a:solidFill>
                <a:latin typeface="JetBrains Mono" pitchFamily="49" charset="0"/>
                <a:ea typeface="JetBrains Mono" pitchFamily="49" charset="-122"/>
                <a:cs typeface="JetBrains Mono" pitchFamily="49" charset="-120"/>
              </a:rPr>
              <a:t>0 left</a:t>
            </a:r>
            <a:endParaRPr lang="en-US" sz="11000" dirty="0"/>
          </a:p>
        </p:txBody>
      </p:sp>
      <p:sp>
        <p:nvSpPr>
          <p:cNvPr id="3" name="Text 1"/>
          <p:cNvSpPr/>
          <p:nvPr/>
        </p:nvSpPr>
        <p:spPr>
          <a:xfrm>
            <a:off x="812780" y="812778"/>
            <a:ext cx="10883434" cy="25650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00ED64"/>
                </a:solidFill>
                <a:latin typeface="JetBrains Mono" pitchFamily="49" charset="0"/>
                <a:ea typeface="JetBrains Mono" pitchFamily="49" charset="-122"/>
                <a:cs typeface="JetBrains Mono" pitchFamily="49" charset="-120"/>
              </a:rPr>
              <a:t>WORKSPACE</a:t>
            </a:r>
            <a:endParaRPr lang="en-US" sz="1300" dirty="0"/>
          </a:p>
        </p:txBody>
      </p:sp>
      <p:sp>
        <p:nvSpPr>
          <p:cNvPr id="4" name="Text 2"/>
          <p:cNvSpPr/>
          <p:nvPr>
            <p:ph type="title"/>
          </p:nvPr>
        </p:nvSpPr>
        <p:spPr>
          <a:xfrm>
            <a:off x="812780" y="1920953"/>
            <a:ext cx="10883434" cy="1232337"/>
          </a:xfrm>
          <a:prstGeom prst="rect">
            <a:avLst/>
          </a:prstGeom>
          <a:noFill/>
          <a:ln/>
        </p:spPr>
        <p:txBody>
          <a:bodyPr wrap="square" lIns="0" tIns="0" rIns="0" bIns="0" rtlCol="0" anchor="t">
            <a:normAutofit/>
          </a:bodyPr>
          <a:lstStyle/>
          <a:p>
            <a:pPr algn="l" indent="0" marL="0">
              <a:lnSpc>
                <a:spcPts val="4752"/>
              </a:lnSpc>
              <a:buNone/>
            </a:pPr>
            <a:r>
              <a:rPr lang="en-US" sz="4400" b="1" i="0" spc="-100" kern="0" dirty="0">
                <a:solidFill>
                  <a:srgbClr val="F3F1EA"/>
                </a:solidFill>
                <a:latin typeface="Space Grotesk" pitchFamily="34" charset="0"/>
                <a:ea typeface="Space Grotesk" pitchFamily="34" charset="-122"/>
                <a:cs typeface="Space Grotesk" pitchFamily="34" charset="-120"/>
              </a:rPr>
              <a:t>Permanent tools for temporary teams</a:t>
            </a:r>
            <a:endParaRPr lang="en-US" sz="4400" dirty="0"/>
          </a:p>
          <a:p>
            <a:pPr algn="l" indent="0" marL="0">
              <a:lnSpc>
                <a:spcPts val="4752"/>
              </a:lnSpc>
              <a:buNone/>
            </a:pPr>
            <a:r>
              <a:rPr lang="en-US" sz="4400" b="1" i="0" spc="-100" kern="0" dirty="0">
                <a:solidFill>
                  <a:srgbClr val="F3F1EA"/>
                </a:solidFill>
                <a:latin typeface="Space Grotesk" pitchFamily="34" charset="0"/>
                <a:ea typeface="Space Grotesk" pitchFamily="34" charset="-122"/>
                <a:cs typeface="Space Grotesk" pitchFamily="34" charset="-120"/>
              </a:rPr>
              <a:t>is the wrong default.</a:t>
            </a:r>
            <a:endParaRPr lang="en-US" sz="4400" dirty="0"/>
          </a:p>
        </p:txBody>
      </p:sp>
      <p:sp>
        <p:nvSpPr>
          <p:cNvPr id="5" name="Text 3"/>
          <p:cNvSpPr/>
          <p:nvPr/>
        </p:nvSpPr>
        <p:spPr>
          <a:xfrm>
            <a:off x="812780" y="4004903"/>
            <a:ext cx="10883434"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8C9C2"/>
                </a:solidFill>
                <a:latin typeface="Space Grotesk" pitchFamily="34" charset="0"/>
                <a:ea typeface="Space Grotesk" pitchFamily="34" charset="-122"/>
                <a:cs typeface="Space Grotesk" pitchFamily="34" charset="-120"/>
              </a:rPr>
              <a:t>Deletion, real-time and semantic search are the same document,</a:t>
            </a:r>
            <a:endParaRPr lang="en-US" sz="2000" dirty="0"/>
          </a:p>
          <a:p>
            <a:pPr algn="l" indent="0" marL="0">
              <a:lnSpc>
                <a:spcPts val="2700"/>
              </a:lnSpc>
              <a:buNone/>
            </a:pPr>
            <a:r>
              <a:rPr lang="en-US" sz="2000" dirty="0">
                <a:solidFill>
                  <a:srgbClr val="00ED64"/>
                </a:solidFill>
                <a:latin typeface="Space Grotesk" pitchFamily="34" charset="0"/>
                <a:ea typeface="Space Grotesk" pitchFamily="34" charset="-122"/>
                <a:cs typeface="Space Grotesk" pitchFamily="34" charset="-120"/>
              </a:rPr>
              <a:t>with a date on it.</a:t>
            </a:r>
            <a:endParaRPr lang="en-US" sz="2000" dirty="0"/>
          </a:p>
        </p:txBody>
      </p:sp>
      <p:sp>
        <p:nvSpPr>
          <p:cNvPr id="6" name="Text 4"/>
          <p:cNvSpPr/>
          <p:nvPr/>
        </p:nvSpPr>
        <p:spPr>
          <a:xfrm>
            <a:off x="815955" y="5570956"/>
            <a:ext cx="3214291" cy="471091"/>
          </a:xfrm>
          <a:prstGeom prst="roundRect">
            <a:avLst>
              <a:gd name="adj" fmla="val 50000"/>
            </a:avLst>
          </a:prstGeom>
          <a:solidFill>
            <a:srgbClr val="12261F"/>
          </a:solidFill>
          <a:ln w="6350">
            <a:solidFill>
              <a:srgbClr val="1F3A31"/>
            </a:solidFill>
            <a:prstDash val="solid"/>
          </a:ln>
        </p:spPr>
        <p:txBody>
          <a:bodyPr wrap="none" lIns="0" tIns="0" rIns="0" bIns="0" rtlCol="0" anchor="ctr">
            <a:normAutofit/>
          </a:bodyPr>
          <a:lstStyle/>
          <a:p>
            <a:pPr algn="ctr" indent="0" marL="0">
              <a:lnSpc>
                <a:spcPts val="2100"/>
              </a:lnSpc>
              <a:buNone/>
            </a:pPr>
            <a:r>
              <a:rPr lang="en-US" sz="1500" dirty="0">
                <a:solidFill>
                  <a:srgbClr val="F3F1EA"/>
                </a:solidFill>
                <a:latin typeface="JetBrains Mono" pitchFamily="49" charset="0"/>
                <a:ea typeface="JetBrains Mono" pitchFamily="49" charset="-122"/>
                <a:cs typeface="JetBrains Mono" pitchFamily="49" charset="-120"/>
              </a:rPr>
              <a:t>github.com/Shprotya/mongo</a:t>
            </a:r>
            <a:endParaRPr lang="en-US" sz="1500" dirty="0"/>
          </a:p>
        </p:txBody>
      </p:sp>
      <p:sp>
        <p:nvSpPr>
          <p:cNvPr id="7" name="Text 5"/>
          <p:cNvSpPr/>
          <p:nvPr/>
        </p:nvSpPr>
        <p:spPr>
          <a:xfrm>
            <a:off x="4188996" y="5570956"/>
            <a:ext cx="2985691" cy="471091"/>
          </a:xfrm>
          <a:prstGeom prst="roundRect">
            <a:avLst>
              <a:gd name="adj" fmla="val 50000"/>
            </a:avLst>
          </a:prstGeom>
          <a:solidFill>
            <a:srgbClr val="12261F"/>
          </a:solidFill>
          <a:ln w="6350">
            <a:solidFill>
              <a:srgbClr val="1F3A31"/>
            </a:solidFill>
            <a:prstDash val="solid"/>
          </a:ln>
        </p:spPr>
        <p:txBody>
          <a:bodyPr wrap="none" lIns="0" tIns="0" rIns="0" bIns="0" rtlCol="0" anchor="ctr">
            <a:normAutofit/>
          </a:bodyPr>
          <a:lstStyle/>
          <a:p>
            <a:pPr algn="ctr" indent="0" marL="0">
              <a:lnSpc>
                <a:spcPts val="2100"/>
              </a:lnSpc>
              <a:buNone/>
            </a:pPr>
            <a:r>
              <a:rPr lang="en-US" sz="1500" dirty="0">
                <a:solidFill>
                  <a:srgbClr val="F3F1EA"/>
                </a:solidFill>
                <a:latin typeface="JetBrains Mono" pitchFamily="49" charset="0"/>
                <a:ea typeface="JetBrains Mono" pitchFamily="49" charset="-122"/>
                <a:cs typeface="JetBrains Mono" pitchFamily="49" charset="-120"/>
              </a:rPr>
              <a:t>[your-app].onrender.com</a:t>
            </a:r>
            <a:endParaRPr lang="en-US" sz="1500" dirty="0"/>
          </a:p>
        </p:txBody>
      </p:sp>
      <p:sp>
        <p:nvSpPr>
          <p:cNvPr id="8" name="Text 6"/>
          <p:cNvSpPr/>
          <p:nvPr/>
        </p:nvSpPr>
        <p:spPr>
          <a:xfrm>
            <a:off x="7330262" y="5567781"/>
            <a:ext cx="1319451" cy="477441"/>
          </a:xfrm>
          <a:prstGeom prst="roundRect">
            <a:avLst>
              <a:gd name="adj" fmla="val 50000"/>
            </a:avLst>
          </a:prstGeom>
          <a:solidFill>
            <a:srgbClr val="00ED64"/>
          </a:solidFill>
          <a:ln/>
        </p:spPr>
        <p:txBody>
          <a:bodyPr wrap="none" lIns="0" tIns="0" rIns="0" bIns="0" rtlCol="0" anchor="ctr">
            <a:normAutofit/>
          </a:bodyPr>
          <a:lstStyle/>
          <a:p>
            <a:pPr algn="ctr" indent="0" marL="0">
              <a:lnSpc>
                <a:spcPts val="2100"/>
              </a:lnSpc>
              <a:buNone/>
            </a:pPr>
            <a:r>
              <a:rPr lang="en-US" sz="1500" b="1" dirty="0">
                <a:solidFill>
                  <a:srgbClr val="0B1A16"/>
                </a:solidFill>
                <a:latin typeface="Space Grotesk" pitchFamily="34" charset="0"/>
                <a:ea typeface="Space Grotesk" pitchFamily="34" charset="-122"/>
                <a:cs typeface="Space Grotesk" pitchFamily="34" charset="-120"/>
              </a:rPr>
              <a:t>Thank you</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ED64"/>
        </a:solidFill>
      </p:bgPr>
    </p:bg>
    <p:spTree>
      <p:nvGrpSpPr>
        <p:cNvPr id="1" name=""/>
        <p:cNvGrpSpPr/>
        <p:nvPr/>
      </p:nvGrpSpPr>
      <p:grpSpPr>
        <a:xfrm>
          <a:off x="0" y="0"/>
          <a:ext cx="0" cy="0"/>
          <a:chOff x="0" y="0"/>
          <a:chExt cx="0" cy="0"/>
        </a:xfrm>
      </p:grpSpPr>
      <p:sp>
        <p:nvSpPr>
          <p:cNvPr id="2" name="Text 0"/>
          <p:cNvSpPr/>
          <p:nvPr/>
        </p:nvSpPr>
        <p:spPr>
          <a:xfrm>
            <a:off x="812780" y="812781"/>
            <a:ext cx="10883434" cy="27430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0B1A16"/>
                </a:solidFill>
                <a:latin typeface="JetBrains Mono" pitchFamily="49" charset="0"/>
                <a:ea typeface="JetBrains Mono" pitchFamily="49" charset="-122"/>
                <a:cs typeface="JetBrains Mono" pitchFamily="49" charset="-120"/>
              </a:rPr>
              <a:t>YOUR TURN</a:t>
            </a:r>
            <a:endParaRPr lang="en-US" sz="1400" dirty="0"/>
          </a:p>
        </p:txBody>
      </p:sp>
      <p:sp>
        <p:nvSpPr>
          <p:cNvPr id="3" name="Text 1"/>
          <p:cNvSpPr/>
          <p:nvPr>
            <p:ph type="title"/>
          </p:nvPr>
        </p:nvSpPr>
        <p:spPr>
          <a:xfrm>
            <a:off x="812780" y="1962869"/>
            <a:ext cx="11379220" cy="1111250"/>
          </a:xfrm>
          <a:prstGeom prst="rect">
            <a:avLst/>
          </a:prstGeom>
          <a:noFill/>
          <a:ln/>
        </p:spPr>
        <p:txBody>
          <a:bodyPr wrap="square" lIns="0" tIns="0" rIns="0" bIns="0" rtlCol="0" anchor="t">
            <a:normAutofit/>
          </a:bodyPr>
          <a:lstStyle/>
          <a:p>
            <a:pPr algn="l" indent="0" marL="0">
              <a:lnSpc>
                <a:spcPts val="8550"/>
              </a:lnSpc>
              <a:buNone/>
            </a:pPr>
            <a:r>
              <a:rPr lang="en-US" sz="9000" b="1" i="0" spc="-300" kern="0" dirty="0">
                <a:solidFill>
                  <a:srgbClr val="0B1A16"/>
                </a:solidFill>
                <a:latin typeface="Space Grotesk" pitchFamily="34" charset="0"/>
                <a:ea typeface="Space Grotesk" pitchFamily="34" charset="-122"/>
                <a:cs typeface="Space Grotesk" pitchFamily="34" charset="-120"/>
              </a:rPr>
              <a:t>Join the workspace.</a:t>
            </a:r>
            <a:endParaRPr lang="en-US" sz="9000" dirty="0"/>
          </a:p>
        </p:txBody>
      </p:sp>
      <p:sp>
        <p:nvSpPr>
          <p:cNvPr id="4" name="Text 2"/>
          <p:cNvSpPr/>
          <p:nvPr/>
        </p:nvSpPr>
        <p:spPr>
          <a:xfrm>
            <a:off x="812780" y="3251895"/>
            <a:ext cx="10883434" cy="787400"/>
          </a:xfrm>
          <a:prstGeom prst="rect">
            <a:avLst/>
          </a:prstGeom>
          <a:noFill/>
          <a:ln/>
        </p:spPr>
        <p:txBody>
          <a:bodyPr wrap="square" lIns="0" tIns="0" rIns="0" bIns="0" rtlCol="0" anchor="t">
            <a:normAutofit/>
          </a:bodyPr>
          <a:lstStyle/>
          <a:p>
            <a:pPr algn="l" indent="0" marL="0">
              <a:lnSpc>
                <a:spcPts val="3000"/>
              </a:lnSpc>
              <a:buNone/>
            </a:pPr>
            <a:r>
              <a:rPr lang="en-US" sz="2400" b="1" dirty="0">
                <a:solidFill>
                  <a:srgbClr val="0B1A16"/>
                </a:solidFill>
                <a:latin typeface="Space Grotesk" pitchFamily="34" charset="0"/>
                <a:ea typeface="Space Grotesk" pitchFamily="34" charset="-122"/>
                <a:cs typeface="Space Grotesk" pitchFamily="34" charset="-120"/>
              </a:rPr>
              <a:t>Type a message. Upload a photo.</a:t>
            </a:r>
            <a:endParaRPr lang="en-US" sz="2400" dirty="0"/>
          </a:p>
          <a:p>
            <a:pPr algn="l" indent="0" marL="0">
              <a:lnSpc>
                <a:spcPts val="3000"/>
              </a:lnSpc>
              <a:buNone/>
            </a:pPr>
            <a:r>
              <a:rPr lang="en-US" sz="2400" b="1" dirty="0">
                <a:solidFill>
                  <a:srgbClr val="0B1A16"/>
                </a:solidFill>
                <a:latin typeface="Space Grotesk" pitchFamily="34" charset="0"/>
                <a:ea typeface="Space Grotesk" pitchFamily="34" charset="-122"/>
                <a:cs typeface="Space Grotesk" pitchFamily="34" charset="-120"/>
              </a:rPr>
              <a:t>Then watch the database delete it.</a:t>
            </a:r>
            <a:endParaRPr lang="en-US" sz="2400" dirty="0"/>
          </a:p>
        </p:txBody>
      </p:sp>
      <p:sp>
        <p:nvSpPr>
          <p:cNvPr id="5" name="Shape 3"/>
          <p:cNvSpPr/>
          <p:nvPr/>
        </p:nvSpPr>
        <p:spPr>
          <a:xfrm>
            <a:off x="812780" y="4915024"/>
            <a:ext cx="5181600" cy="1130201"/>
          </a:xfrm>
          <a:prstGeom prst="roundRect">
            <a:avLst>
              <a:gd name="adj" fmla="val 11237"/>
            </a:avLst>
          </a:prstGeom>
          <a:solidFill>
            <a:srgbClr val="0B1A16"/>
          </a:solidFill>
          <a:ln/>
        </p:spPr>
      </p:sp>
      <p:sp>
        <p:nvSpPr>
          <p:cNvPr id="6" name="Text 4"/>
          <p:cNvSpPr/>
          <p:nvPr/>
        </p:nvSpPr>
        <p:spPr>
          <a:xfrm>
            <a:off x="1066741" y="5143624"/>
            <a:ext cx="4813890"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9C2"/>
                </a:solidFill>
                <a:latin typeface="Space Grotesk" pitchFamily="34" charset="0"/>
                <a:ea typeface="Space Grotesk" pitchFamily="34" charset="-122"/>
                <a:cs typeface="Space Grotesk" pitchFamily="34" charset="-120"/>
              </a:rPr>
              <a:t>Go to</a:t>
            </a:r>
            <a:endParaRPr lang="en-US" sz="1300" dirty="0"/>
          </a:p>
        </p:txBody>
      </p:sp>
      <p:sp>
        <p:nvSpPr>
          <p:cNvPr id="7" name="Text 5"/>
          <p:cNvSpPr/>
          <p:nvPr/>
        </p:nvSpPr>
        <p:spPr>
          <a:xfrm>
            <a:off x="1066741" y="5425504"/>
            <a:ext cx="481389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ED64"/>
                </a:solidFill>
                <a:latin typeface="JetBrains Mono" pitchFamily="49" charset="0"/>
                <a:ea typeface="JetBrains Mono" pitchFamily="49" charset="-122"/>
                <a:cs typeface="JetBrains Mono" pitchFamily="49" charset="-120"/>
              </a:rPr>
              <a:t>[your-app].onrender.com</a:t>
            </a:r>
            <a:endParaRPr lang="en-US" sz="2200" dirty="0"/>
          </a:p>
        </p:txBody>
      </p:sp>
      <p:sp>
        <p:nvSpPr>
          <p:cNvPr id="8" name="Shape 6"/>
          <p:cNvSpPr/>
          <p:nvPr/>
        </p:nvSpPr>
        <p:spPr>
          <a:xfrm>
            <a:off x="6197560" y="4915024"/>
            <a:ext cx="5181660" cy="1130201"/>
          </a:xfrm>
          <a:prstGeom prst="roundRect">
            <a:avLst>
              <a:gd name="adj" fmla="val 11237"/>
            </a:avLst>
          </a:prstGeom>
          <a:solidFill>
            <a:srgbClr val="0B1A16"/>
          </a:solidFill>
          <a:ln/>
        </p:spPr>
      </p:sp>
      <p:sp>
        <p:nvSpPr>
          <p:cNvPr id="9" name="Text 7"/>
          <p:cNvSpPr/>
          <p:nvPr/>
        </p:nvSpPr>
        <p:spPr>
          <a:xfrm>
            <a:off x="6451521" y="5143624"/>
            <a:ext cx="4813951"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9C2"/>
                </a:solidFill>
                <a:latin typeface="Space Grotesk" pitchFamily="34" charset="0"/>
                <a:ea typeface="Space Grotesk" pitchFamily="34" charset="-122"/>
                <a:cs typeface="Space Grotesk" pitchFamily="34" charset="-120"/>
              </a:rPr>
              <a:t>Enter the PIN, or scan the QR on screen</a:t>
            </a:r>
            <a:endParaRPr lang="en-US" sz="1300" dirty="0"/>
          </a:p>
        </p:txBody>
      </p:sp>
      <p:sp>
        <p:nvSpPr>
          <p:cNvPr id="10" name="Text 8"/>
          <p:cNvSpPr/>
          <p:nvPr/>
        </p:nvSpPr>
        <p:spPr>
          <a:xfrm>
            <a:off x="6451521" y="5425504"/>
            <a:ext cx="481395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ED64"/>
                </a:solidFill>
                <a:latin typeface="JetBrains Mono" pitchFamily="49" charset="0"/>
                <a:ea typeface="JetBrains Mono" pitchFamily="49" charset="-122"/>
                <a:cs typeface="JetBrains Mono" pitchFamily="49" charset="-120"/>
              </a:rPr>
              <a:t>[___ ___]</a:t>
            </a:r>
            <a:endParaRPr lang="en-US" sz="2200" dirty="0"/>
          </a:p>
        </p:txBody>
      </p:sp>
    </p:spTree>
  </p:cSld>
  <p:clrMapOvr>
    <a:masterClrMapping/>
  </p:clrMapOvr>
</p:sld>
</file>

<file path=ppt/theme/theme1.xml><?xml version="1.0" encoding="utf-8"?>
<a:theme xmlns:a="http://schemas.openxmlformats.org/drawingml/2006/main" name="Workspace">
  <a:themeElements>
    <a:clrScheme name="Workspace">
      <a:dk1>
        <a:srgbClr val="0B1A16"/>
      </a:dk1>
      <a:lt1>
        <a:srgbClr val="F3F1EA"/>
      </a:lt1>
      <a:dk2>
        <a:srgbClr val="22302B"/>
      </a:dk2>
      <a:lt2>
        <a:srgbClr val="B9BBB5"/>
      </a:lt2>
      <a:accent1>
        <a:srgbClr val="00ED64"/>
      </a:accent1>
      <a:accent2>
        <a:srgbClr val="00684A"/>
      </a:accent2>
      <a:accent3>
        <a:srgbClr val="B3261E"/>
      </a:accent3>
      <a:accent4>
        <a:srgbClr val="FFB547"/>
      </a:accent4>
      <a:accent5>
        <a:srgbClr val="B8C9C2"/>
      </a:accent5>
      <a:accent6>
        <a:srgbClr val="4A5A54"/>
      </a:accent6>
      <a:hlink>
        <a:srgbClr val="0563C1"/>
      </a:hlink>
      <a:folHlink>
        <a:srgbClr val="954F72"/>
      </a:folHlink>
    </a:clrScheme>
    <a:fontScheme name="Workspa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Workspace</dc:title>
  <dc:subject/>
  <dc:creator/>
  <cp:lastModifiedBy/>
  <cp:revision>1</cp:revision>
  <dcterms:created xsi:type="dcterms:W3CDTF">2026-10-03T14:30:43Z</dcterms:created>
  <dcterms:modified xsi:type="dcterms:W3CDTF">2026-10-03T14:30:43Z</dcterms:modified>
</cp:coreProperties>
</file>